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96"/>
  </p:normalViewPr>
  <p:slideViewPr>
    <p:cSldViewPr snapToGrid="0">
      <p:cViewPr varScale="1">
        <p:scale>
          <a:sx n="95" d="100"/>
          <a:sy n="95" d="100"/>
        </p:scale>
        <p:origin x="200"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Today is a working session. We talk through the project first, then you form teams, look at the data, and write a team charter. Some of this will carry over into time with your team this week.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things today. Talk it through, form teams, write the charter, and plan the week. Not everything fits in class, so set a meeting time with your team before you leave.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story as last week's case, bigger scale. The case gave you the story. This project is the work behind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gets pushed to your team's repo and linked in Canvas. One notebook, a reflection, a README, and a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at where the weight is. Cleaning and the weather join are 40 percent before you answer a single question.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files in the data folder next to the notebook. The database matters mostly for Question 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brief lists what to expect. Finding them is part of the work, and every decision gets written down.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question needs something to be true first. Q1 needs clean dates and Q3 needs the weather API. Those two are the critical path. Everything else can run in parallel.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checkpoint labs tell us early if a team is stuck. Honest reports are worth more than optimistic ones.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 time is for the parts that are easier together. It will not be enough to finish the project. Plan on working with your team outside class every week, and pick a meeting time today.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five sink teams. The charter we're about to write is built to prevent each one.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Pick teammates now and sit together. Schedule first, then strengths, and be honest about how much time you have. If anyone doesn't have a team yet, say so now.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this on the real transactions file. The function is in the notebook. Keep it, because you will run it again on the capstone data.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places to look. Compare the distinct counts with what should be true, check dtypes for text that should be numbers, and treat every null as a decision someone has to make and write down.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charter is a short agreement about how your team will work. It takes a little time now and saves you from the arguments that wreck week 2. Talk through each part, put the answers in the code cell, run it, and commit CHARTER.md.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Agree on these out loud before you assign anything. One or two sentences each.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jobs matched to where the points are. Each has an owner who makes sure it gets done and a backup who steps in if the owner is sick or swamped.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 the jobs. And two things belong to everyone: the rotating notebook owner, and everyone's own part of the reflection.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Q1 and Q3 are the critical path, so get those two moving first. The reviewer's job is to try to break the answer.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Vague answers here cause trouble later, so be specific. For going quiet: check in after a day, bring it to the team after two, then email me. Don't wait until it's due.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person creates it, everyone gets write access, and the link goes in your charter. Check the Canvas submission page for how it needs to be shared. Notebook files break when two people edit them at once, hence the owner rule.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down this list as a team before anyone leaves. If something's missing, that's this week's first job.</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 backward from Friday's checkpoint. Wednesday's studio covers the weather API call and the join, so use it for number four.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try to answer any of the five questions yet. You can't answer them on dirty data, and trying is the most common way teams lose their first week.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buNone/>
              <a:defRPr sz="6000">
                <a:solidFill>
                  <a:srgbClr val="24323E"/>
                </a:solidFill>
                <a:latin typeface="Times New Roman"/>
                <a:ea typeface="Times New Roman"/>
                <a:cs typeface="Times New Roman"/>
              </a:defRPr>
            </a:lvl1pPr>
          </a:lstStyle>
          <a:p>
            <a:r>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a:ea typeface="Times New Roman"/>
                <a:cs typeface="Times New Roma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idx="10"/>
          </p:nvPr>
        </p:nvSpPr>
        <p:spPr/>
        <p:txBody>
          <a:bodyPr/>
          <a:lstStyle/>
          <a:p>
            <a:fld id="{507A6976-490E-4B03-A9C3-CCC3E2FE72FE}" type="datetimeFigureOut">
              <a:t>10/18/26</a:t>
            </a:fld>
            <a:endParaRPr/>
          </a:p>
        </p:txBody>
      </p:sp>
      <p:sp>
        <p:nvSpPr>
          <p:cNvPr id="8" name="Rectangle 7">
            <a:extLst>
              <a:ext uri="{FF2B5EF4-FFF2-40B4-BE49-F238E27FC236}">
                <a16:creationId xmlns:a16="http://schemas.microsoft.com/office/drawing/2014/main" id="{4C8F91D3-C175-4E31-94F8-8954545A194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Footer Placeholder 4">
            <a:extLst>
              <a:ext uri="{FF2B5EF4-FFF2-40B4-BE49-F238E27FC236}">
                <a16:creationId xmlns:a16="http://schemas.microsoft.com/office/drawing/2014/main" id="{FA02294C-7E6C-45B8-8A66-9C558CA7B94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5869651-5CF9-4A71-BA2D-52C300D681FD}"/>
              </a:ext>
            </a:extLst>
          </p:cNvPr>
          <p:cNvSpPr>
            <a:spLocks noGrp="1"/>
          </p:cNvSpPr>
          <p:nvPr>
            <p:ph type="sldNum" idx="12"/>
          </p:nvPr>
        </p:nvSpPr>
        <p:spPr/>
        <p:txBody>
          <a:bodyPr/>
          <a:lstStyle/>
          <a:p>
            <a:fld id="{D5D0E0BB-C5BC-4E94-AD2F-C01416FBA9AF}" type="slidenum">
              <a:t>‹#›</a:t>
            </a:fld>
            <a:endParaRPr/>
          </a:p>
        </p:txBody>
      </p:sp>
      <p:pic>
        <p:nvPicPr>
          <p:cNvPr id="16" name="Picture 2"/>
          <p:cNvPicPr>
            <a:picLocks noChangeAspect="1"/>
          </p:cNvPicPr>
          <p:nvPr/>
        </p:nvPicPr>
        <p:blipFill>
          <a:blip r:embed="rId2"/>
          <a:srcRect/>
          <a:stretch>
            <a:fillRect/>
          </a:stretch>
        </p:blipFill>
        <p:spPr>
          <a:xfrm>
            <a:off x="418010" y="6356350"/>
            <a:ext cx="3238500" cy="3714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buNone/>
              <a:defRPr sz="6000">
                <a:solidFill>
                  <a:srgbClr val="24323E"/>
                </a:solidFill>
                <a:latin typeface="Times New Roman"/>
                <a:ea typeface="Times New Roman"/>
                <a:cs typeface="Times New Roman"/>
              </a:defRPr>
            </a:lvl1pPr>
          </a:lstStyle>
          <a:p>
            <a:r>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a:ea typeface="Times New Roman"/>
                <a:cs typeface="Times New Roma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idx="10"/>
          </p:nvPr>
        </p:nvSpPr>
        <p:spPr/>
        <p:txBody>
          <a:bodyPr/>
          <a:lstStyle/>
          <a:p>
            <a:fld id="{507A6976-490E-4B03-A9C3-CCC3E2FE72FE}" type="datetimeFigureOut">
              <a:t>10/18/26</a:t>
            </a:fld>
            <a:endParaRPr/>
          </a:p>
        </p:txBody>
      </p:sp>
      <p:sp>
        <p:nvSpPr>
          <p:cNvPr id="8" name="Rectangle 7">
            <a:extLst>
              <a:ext uri="{FF2B5EF4-FFF2-40B4-BE49-F238E27FC236}">
                <a16:creationId xmlns:a16="http://schemas.microsoft.com/office/drawing/2014/main" id="{4C8F91D3-C175-4E31-94F8-8954545A194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4" name="Picture 2"/>
          <p:cNvPicPr>
            <a:picLocks noChangeAspect="1"/>
          </p:cNvPicPr>
          <p:nvPr/>
        </p:nvPicPr>
        <p:blipFill>
          <a:blip r:embed="rId2"/>
          <a:srcRect/>
          <a:stretch>
            <a:fillRect/>
          </a:stretch>
        </p:blipFill>
        <p:spPr>
          <a:xfrm>
            <a:off x="8374463" y="6356350"/>
            <a:ext cx="3238500" cy="37147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A6A8-583C-4B61-8542-D7C3862AEDAC}"/>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3" name="Content Placeholder 2">
            <a:extLst>
              <a:ext uri="{FF2B5EF4-FFF2-40B4-BE49-F238E27FC236}">
                <a16:creationId xmlns:a16="http://schemas.microsoft.com/office/drawing/2014/main" id="{BCA15F41-01A7-4EFA-A30D-6156DE46DB72}"/>
              </a:ext>
            </a:extLst>
          </p:cNvPr>
          <p:cNvSpPr>
            <a:spLocks noGrp="1"/>
          </p:cNvSpPr>
          <p:nvPr>
            <p:ph idx="1"/>
          </p:nvPr>
        </p:nvSpPr>
        <p:spPr>
          <a:xfrm>
            <a:off x="425802" y="1551008"/>
            <a:ext cx="11178526" cy="4625955"/>
          </a:xfrm>
        </p:spPr>
        <p:txBody>
          <a:bodyPr/>
          <a:lstStyle>
            <a:lvl1pPr marL="228600" indent="-228600">
              <a:buClr>
                <a:srgbClr val="24323E"/>
              </a:buClr>
              <a:buFont typeface="Wingdings"/>
              <a:buChar char="§"/>
              <a:defRPr>
                <a:solidFill>
                  <a:srgbClr val="24323E"/>
                </a:solidFill>
                <a:latin typeface="Times New Roman"/>
                <a:ea typeface="Times New Roman"/>
                <a:cs typeface="Times New Roman"/>
              </a:defRPr>
            </a:lvl1pPr>
            <a:lvl2pPr marL="685800" indent="-228600">
              <a:buClr>
                <a:srgbClr val="F67132"/>
              </a:buClr>
              <a:buFont typeface="Wingdings"/>
              <a:buChar char="§"/>
              <a:defRPr>
                <a:solidFill>
                  <a:srgbClr val="24323E"/>
                </a:solidFill>
                <a:latin typeface="Times New Roman"/>
                <a:ea typeface="Times New Roman"/>
                <a:cs typeface="Times New Roman"/>
              </a:defRPr>
            </a:lvl2pPr>
            <a:lvl3pPr marL="1143000" indent="-228600">
              <a:buClr>
                <a:srgbClr val="24323E"/>
              </a:buClr>
              <a:buFont typeface="Wingdings"/>
              <a:buChar char="§"/>
              <a:defRPr>
                <a:solidFill>
                  <a:srgbClr val="24323E"/>
                </a:solidFill>
                <a:latin typeface="Times New Roman"/>
                <a:ea typeface="Times New Roman"/>
                <a:cs typeface="Times New Roman"/>
              </a:defRPr>
            </a:lvl3pPr>
            <a:lvl4pPr marL="1600200" indent="-228600">
              <a:buClr>
                <a:srgbClr val="F67132"/>
              </a:buClr>
              <a:buFont typeface="Wingdings"/>
              <a:buChar char="§"/>
              <a:defRPr>
                <a:solidFill>
                  <a:srgbClr val="24323E"/>
                </a:solidFill>
                <a:latin typeface="Times New Roman"/>
                <a:ea typeface="Times New Roman"/>
                <a:cs typeface="Times New Roman"/>
              </a:defRPr>
            </a:lvl4pPr>
            <a:lvl5pPr marL="2057400" indent="-228600">
              <a:buClr>
                <a:srgbClr val="24323E"/>
              </a:buClr>
              <a:buFont typeface="Wingdings"/>
              <a:buChar char="§"/>
              <a:defRPr>
                <a:solidFill>
                  <a:srgbClr val="24323E"/>
                </a:solidFill>
                <a:latin typeface="Times New Roman"/>
                <a:ea typeface="Times New Roman"/>
                <a:cs typeface="Times New Roman"/>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DE138A0-9F3C-4D4E-A5BB-5DB1CA18D5A6}"/>
              </a:ext>
            </a:extLst>
          </p:cNvPr>
          <p:cNvSpPr>
            <a:spLocks noGrp="1"/>
          </p:cNvSpPr>
          <p:nvPr>
            <p:ph type="dt" idx="10"/>
          </p:nvPr>
        </p:nvSpPr>
        <p:spPr/>
        <p:txBody>
          <a:bodyPr/>
          <a:lstStyle/>
          <a:p>
            <a:fld id="{507A6976-490E-4B03-A9C3-CCC3E2FE72FE}" type="datetimeFigureOut">
              <a:t>10/18/26</a:t>
            </a:fld>
            <a:endParaRPr/>
          </a:p>
        </p:txBody>
      </p:sp>
      <p:sp>
        <p:nvSpPr>
          <p:cNvPr id="5" name="Footer Placeholder 4">
            <a:extLst>
              <a:ext uri="{FF2B5EF4-FFF2-40B4-BE49-F238E27FC236}">
                <a16:creationId xmlns:a16="http://schemas.microsoft.com/office/drawing/2014/main" id="{92CBD177-DEE3-487E-963D-9D8E870EE434}"/>
              </a:ext>
            </a:extLst>
          </p:cNvPr>
          <p:cNvSpPr>
            <a:spLocks noGrp="1"/>
          </p:cNvSpPr>
          <p:nvPr>
            <p:ph type="ftr" idx="11"/>
          </p:nvPr>
        </p:nvSpPr>
        <p:spPr/>
        <p:txBody>
          <a:bodyPr/>
          <a:lstStyle/>
          <a:p>
            <a:endParaRPr/>
          </a:p>
        </p:txBody>
      </p:sp>
      <p:sp>
        <p:nvSpPr>
          <p:cNvPr id="8" name="Rectangle 7">
            <a:extLst>
              <a:ext uri="{FF2B5EF4-FFF2-40B4-BE49-F238E27FC236}">
                <a16:creationId xmlns:a16="http://schemas.microsoft.com/office/drawing/2014/main" id="{D05E8E3F-21E7-4D82-AF2E-88E4CEF77843}"/>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lide Number Placeholder 5">
            <a:extLst>
              <a:ext uri="{FF2B5EF4-FFF2-40B4-BE49-F238E27FC236}">
                <a16:creationId xmlns:a16="http://schemas.microsoft.com/office/drawing/2014/main" id="{AAC36415-0399-430F-A5BD-465C7170F859}"/>
              </a:ext>
            </a:extLst>
          </p:cNvPr>
          <p:cNvSpPr>
            <a:spLocks noGrp="1"/>
          </p:cNvSpPr>
          <p:nvPr>
            <p:ph type="sldNum" idx="12"/>
          </p:nvPr>
        </p:nvSpPr>
        <p:spPr/>
        <p:txBody>
          <a:bodyPr/>
          <a:lstStyle/>
          <a:p>
            <a:fld id="{D5D0E0BB-C5BC-4E94-AD2F-C01416FBA9AF}" type="slidenum">
              <a:t>‹#›</a:t>
            </a:fld>
            <a:endParaRPr/>
          </a:p>
        </p:txBody>
      </p:sp>
      <p:sp>
        <p:nvSpPr>
          <p:cNvPr id="7" name="Rectangle 6">
            <a:extLst>
              <a:ext uri="{FF2B5EF4-FFF2-40B4-BE49-F238E27FC236}">
                <a16:creationId xmlns:a16="http://schemas.microsoft.com/office/drawing/2014/main" id="{A04CB88B-2595-4D36-8F78-87400EF726A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1" name="Picture 12"/>
          <p:cNvPicPr>
            <a:picLocks noChangeAspect="1"/>
          </p:cNvPicPr>
          <p:nvPr/>
        </p:nvPicPr>
        <p:blipFill>
          <a:blip r:embed="rId3"/>
          <a:stretch>
            <a:fillRect/>
          </a:stretch>
        </p:blipFill>
        <p:spPr>
          <a:xfrm>
            <a:off x="8632729" y="6356350"/>
            <a:ext cx="3113396" cy="397339"/>
          </a:xfrm>
          <a:prstGeom prst="rect">
            <a:avLst/>
          </a:prstGeom>
        </p:spPr>
      </p:pic>
      <p:sp>
        <p:nvSpPr>
          <p:cNvPr id="19" name="Text Placeholder 1">
            <a:extLst>
              <a:ext uri="{FF2B5EF4-FFF2-40B4-BE49-F238E27FC236}">
                <a16:creationId xmlns:a16="http://schemas.microsoft.com/office/drawing/2014/main" id="{9E59CDD5-C42A-49A7-B529-8E24FDD70315}"/>
              </a:ext>
            </a:extLst>
          </p:cNvPr>
          <p:cNvSpPr>
            <a:spLocks noGrp="1"/>
          </p:cNvSpPr>
          <p:nvPr>
            <p:ph type="body" idx="13"/>
          </p:nvPr>
        </p:nvSpPr>
        <p:spPr>
          <a:xfrm>
            <a:off x="426424" y="939739"/>
            <a:ext cx="10268584" cy="369332"/>
          </a:xfrm>
        </p:spPr>
        <p:txBody>
          <a:bodyPr/>
          <a:lstStyle>
            <a:lvl1pPr marL="0" indent="0">
              <a:buFontTx/>
              <a:buNone/>
              <a:defRPr>
                <a:solidFill>
                  <a:srgbClr val="24323E"/>
                </a:solidFill>
                <a:latin typeface="Times New Roman"/>
                <a:ea typeface="Times New Roman"/>
                <a:cs typeface="Times New Roman"/>
              </a:defRPr>
            </a:lvl1pPr>
          </a:lstStyle>
          <a:p>
            <a:r>
              <a:rPr sz="2400"/>
              <a:t>Full DevOps Capability for Machine Learning Development &amp; Operationalization</a:t>
            </a:r>
          </a:p>
        </p:txBody>
      </p:sp>
      <p:sp>
        <p:nvSpPr>
          <p:cNvPr id="18" name="Oval 17">
            <a:extLst>
              <a:ext uri="{FF2B5EF4-FFF2-40B4-BE49-F238E27FC236}">
                <a16:creationId xmlns:a16="http://schemas.microsoft.com/office/drawing/2014/main" id="{90CA6DF7-67F2-4590-8C5E-D082420E6F59}"/>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9843-407A-43C4-8943-ECDF4278F11F}"/>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751746FA-46B8-40D1-87A2-85412956C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BB9FEF9-D3D1-4020-A429-5BE1AE937B6A}"/>
              </a:ext>
            </a:extLst>
          </p:cNvPr>
          <p:cNvSpPr>
            <a:spLocks noGrp="1"/>
          </p:cNvSpPr>
          <p:nvPr>
            <p:ph type="dt" idx="10"/>
          </p:nvPr>
        </p:nvSpPr>
        <p:spPr/>
        <p:txBody>
          <a:bodyPr/>
          <a:lstStyle/>
          <a:p>
            <a:fld id="{507A6976-490E-4B03-A9C3-CCC3E2FE72FE}" type="datetimeFigureOut">
              <a:t>10/18/26</a:t>
            </a:fld>
            <a:endParaRPr/>
          </a:p>
        </p:txBody>
      </p:sp>
      <p:sp>
        <p:nvSpPr>
          <p:cNvPr id="5" name="Footer Placeholder 4">
            <a:extLst>
              <a:ext uri="{FF2B5EF4-FFF2-40B4-BE49-F238E27FC236}">
                <a16:creationId xmlns:a16="http://schemas.microsoft.com/office/drawing/2014/main" id="{FE8D5D15-1BF4-49C1-8A7A-416D917E596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C98E9D6-4AB0-4D21-812F-CF16AF25C91E}"/>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39EC3E30-8BF2-4EDC-A69F-038FADBE04F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8" name="Rectangle 7">
            <a:extLst>
              <a:ext uri="{FF2B5EF4-FFF2-40B4-BE49-F238E27FC236}">
                <a16:creationId xmlns:a16="http://schemas.microsoft.com/office/drawing/2014/main" id="{829C2C60-7F8D-41AB-904C-3EC1F25F1425}"/>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605D592E-7C96-4AEC-BC7C-8597269C852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695CC881-5C33-44B1-805F-2F580197382A}"/>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8" name="Picture 11"/>
          <p:cNvPicPr>
            <a:picLocks noChangeAspect="1"/>
          </p:cNvPicPr>
          <p:nvPr/>
        </p:nvPicPr>
        <p:blipFill>
          <a:blip r:embed="rId3"/>
          <a:stretch>
            <a:fillRect/>
          </a:stretch>
        </p:blipFill>
        <p:spPr>
          <a:xfrm>
            <a:off x="8632729" y="6356350"/>
            <a:ext cx="3113396" cy="397339"/>
          </a:xfrm>
          <a:prstGeom prst="rect">
            <a:avLst/>
          </a:prstGeom>
        </p:spPr>
      </p:pic>
      <p:sp>
        <p:nvSpPr>
          <p:cNvPr id="14" name="Oval 13">
            <a:extLst>
              <a:ext uri="{FF2B5EF4-FFF2-40B4-BE49-F238E27FC236}">
                <a16:creationId xmlns:a16="http://schemas.microsoft.com/office/drawing/2014/main" id="{5049CD17-31D1-4801-9664-ED1B9C685CDC}"/>
              </a:ext>
            </a:extLst>
          </p:cNvPr>
          <p:cNvSpPr>
            <a:spLocks noGrp="1"/>
          </p:cNvSpPr>
          <p:nvPr/>
        </p:nvSpPr>
        <p:spPr>
          <a:xfrm>
            <a:off x="11076976" y="377318"/>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10"/>
          <p:cNvPicPr>
            <a:picLocks noChangeAspect="1"/>
          </p:cNvPicPr>
          <p:nvPr/>
        </p:nvPicPr>
        <p:blipFill rotWithShape="1">
          <a:blip r:embed="rId4"/>
          <a:srcRect r="62081" b="-3750"/>
          <a:stretch/>
        </p:blipFill>
        <p:spPr>
          <a:xfrm>
            <a:off x="11162074" y="526743"/>
            <a:ext cx="812647" cy="6423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92C1B-E274-4C74-8A5D-D8845646259C}"/>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D5BE9BE-0665-4DCE-A748-AE68B5E0A3D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F1F7F03-C309-43EB-9987-F81D6D20C085}"/>
              </a:ext>
            </a:extLst>
          </p:cNvPr>
          <p:cNvSpPr>
            <a:spLocks noGrp="1"/>
          </p:cNvSpPr>
          <p:nvPr>
            <p:ph type="dt" idx="10"/>
          </p:nvPr>
        </p:nvSpPr>
        <p:spPr/>
        <p:txBody>
          <a:bodyPr/>
          <a:lstStyle/>
          <a:p>
            <a:fld id="{507A6976-490E-4B03-A9C3-CCC3E2FE72FE}" type="datetimeFigureOut">
              <a:t>10/18/26</a:t>
            </a:fld>
            <a:endParaRPr/>
          </a:p>
        </p:txBody>
      </p:sp>
      <p:sp>
        <p:nvSpPr>
          <p:cNvPr id="6" name="Footer Placeholder 5">
            <a:extLst>
              <a:ext uri="{FF2B5EF4-FFF2-40B4-BE49-F238E27FC236}">
                <a16:creationId xmlns:a16="http://schemas.microsoft.com/office/drawing/2014/main" id="{788CB655-6BAB-4C80-9E6D-7AB4B6F3CC4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0512FCB-42C4-443A-B165-E55BFEB58486}"/>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85064EE2-38C1-45C1-B913-7210E0504085}"/>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9" name="Rectangle 8">
            <a:extLst>
              <a:ext uri="{FF2B5EF4-FFF2-40B4-BE49-F238E27FC236}">
                <a16:creationId xmlns:a16="http://schemas.microsoft.com/office/drawing/2014/main" id="{4B69941A-AE8B-48D6-BC41-092F90C7EDFF}"/>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5EDBD34F-3EA6-4631-95FB-C7ABE8356313}"/>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BCB19452-6632-4D41-9309-9BCB6C3758AF}"/>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7" name="Title 1">
            <a:extLst>
              <a:ext uri="{FF2B5EF4-FFF2-40B4-BE49-F238E27FC236}">
                <a16:creationId xmlns:a16="http://schemas.microsoft.com/office/drawing/2014/main" id="{B56D442A-5B6F-4AE6-AB1B-9E146EB7024E}"/>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9" name="Oval 18">
            <a:extLst>
              <a:ext uri="{FF2B5EF4-FFF2-40B4-BE49-F238E27FC236}">
                <a16:creationId xmlns:a16="http://schemas.microsoft.com/office/drawing/2014/main" id="{750E0DDE-09DC-4068-BB45-BA6E627017FD}"/>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6"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C0147A-A342-4D7A-A25A-B96301214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7B0977B-26B0-4D55-9C6F-9BDB92C12BD7}"/>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3514942-0798-489E-9803-EB3E32134083}"/>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04096F4-02D1-411E-B6DD-51BA3FAF6500}"/>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5BFD05A-651E-4DDA-9264-6927716D281F}"/>
              </a:ext>
            </a:extLst>
          </p:cNvPr>
          <p:cNvSpPr>
            <a:spLocks noGrp="1"/>
          </p:cNvSpPr>
          <p:nvPr>
            <p:ph type="dt" idx="10"/>
          </p:nvPr>
        </p:nvSpPr>
        <p:spPr/>
        <p:txBody>
          <a:bodyPr/>
          <a:lstStyle/>
          <a:p>
            <a:fld id="{507A6976-490E-4B03-A9C3-CCC3E2FE72FE}" type="datetimeFigureOut">
              <a:t>10/18/26</a:t>
            </a:fld>
            <a:endParaRPr/>
          </a:p>
        </p:txBody>
      </p:sp>
      <p:sp>
        <p:nvSpPr>
          <p:cNvPr id="8" name="Footer Placeholder 7">
            <a:extLst>
              <a:ext uri="{FF2B5EF4-FFF2-40B4-BE49-F238E27FC236}">
                <a16:creationId xmlns:a16="http://schemas.microsoft.com/office/drawing/2014/main" id="{4464FEC5-13F6-45CA-B72A-E436454517A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A964271-A320-48D6-9C89-EBBAC019F2AC}"/>
              </a:ext>
            </a:extLst>
          </p:cNvPr>
          <p:cNvSpPr>
            <a:spLocks noGrp="1"/>
          </p:cNvSpPr>
          <p:nvPr>
            <p:ph type="sldNum" idx="12"/>
          </p:nvPr>
        </p:nvSpPr>
        <p:spPr/>
        <p:txBody>
          <a:bodyPr/>
          <a:lstStyle/>
          <a:p>
            <a:fld id="{D5D0E0BB-C5BC-4E94-AD2F-C01416FBA9AF}" type="slidenum">
              <a:t>‹#›</a:t>
            </a:fld>
            <a:endParaRPr/>
          </a:p>
        </p:txBody>
      </p:sp>
      <p:sp>
        <p:nvSpPr>
          <p:cNvPr id="10" name="Date Placeholder 3">
            <a:extLst>
              <a:ext uri="{FF2B5EF4-FFF2-40B4-BE49-F238E27FC236}">
                <a16:creationId xmlns:a16="http://schemas.microsoft.com/office/drawing/2014/main" id="{31A71450-5691-476E-AA79-B29C74D1711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11" name="Rectangle 10">
            <a:extLst>
              <a:ext uri="{FF2B5EF4-FFF2-40B4-BE49-F238E27FC236}">
                <a16:creationId xmlns:a16="http://schemas.microsoft.com/office/drawing/2014/main" id="{06295C27-5AA0-4C19-8FB4-77E5A2F860EB}"/>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Slide Number Placeholder 5">
            <a:extLst>
              <a:ext uri="{FF2B5EF4-FFF2-40B4-BE49-F238E27FC236}">
                <a16:creationId xmlns:a16="http://schemas.microsoft.com/office/drawing/2014/main" id="{A9DDD66B-75FE-469E-9AC1-596F40ADCE9D}"/>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3" name="Rectangle 12">
            <a:extLst>
              <a:ext uri="{FF2B5EF4-FFF2-40B4-BE49-F238E27FC236}">
                <a16:creationId xmlns:a16="http://schemas.microsoft.com/office/drawing/2014/main" id="{D8FA27D3-9F6B-4ED3-BB0C-CA5F61ED2350}"/>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6"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7" name="Picture 14"/>
          <p:cNvPicPr>
            <a:picLocks noChangeAspect="1"/>
          </p:cNvPicPr>
          <p:nvPr/>
        </p:nvPicPr>
        <p:blipFill>
          <a:blip r:embed="rId3"/>
          <a:stretch>
            <a:fillRect/>
          </a:stretch>
        </p:blipFill>
        <p:spPr>
          <a:xfrm>
            <a:off x="8632729" y="6356350"/>
            <a:ext cx="3113396" cy="397339"/>
          </a:xfrm>
          <a:prstGeom prst="rect">
            <a:avLst/>
          </a:prstGeom>
        </p:spPr>
      </p:pic>
      <p:sp>
        <p:nvSpPr>
          <p:cNvPr id="19" name="Title 1">
            <a:extLst>
              <a:ext uri="{FF2B5EF4-FFF2-40B4-BE49-F238E27FC236}">
                <a16:creationId xmlns:a16="http://schemas.microsoft.com/office/drawing/2014/main" id="{389D66B7-190D-45DE-8402-B0D014A7D9B9}"/>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21" name="Oval 20">
            <a:extLst>
              <a:ext uri="{FF2B5EF4-FFF2-40B4-BE49-F238E27FC236}">
                <a16:creationId xmlns:a16="http://schemas.microsoft.com/office/drawing/2014/main" id="{EBD50D10-3A04-4F7E-BCDC-6A340234FE10}"/>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0"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0C2993-1DD0-4AF3-9263-0787DA4AD704}"/>
              </a:ext>
            </a:extLst>
          </p:cNvPr>
          <p:cNvSpPr>
            <a:spLocks noGrp="1"/>
          </p:cNvSpPr>
          <p:nvPr>
            <p:ph type="dt" idx="10"/>
          </p:nvPr>
        </p:nvSpPr>
        <p:spPr/>
        <p:txBody>
          <a:bodyPr/>
          <a:lstStyle/>
          <a:p>
            <a:fld id="{507A6976-490E-4B03-A9C3-CCC3E2FE72FE}" type="datetimeFigureOut">
              <a:t>10/18/26</a:t>
            </a:fld>
            <a:endParaRPr/>
          </a:p>
        </p:txBody>
      </p:sp>
      <p:sp>
        <p:nvSpPr>
          <p:cNvPr id="4" name="Footer Placeholder 3">
            <a:extLst>
              <a:ext uri="{FF2B5EF4-FFF2-40B4-BE49-F238E27FC236}">
                <a16:creationId xmlns:a16="http://schemas.microsoft.com/office/drawing/2014/main" id="{BD4E353D-8B96-4301-A5EA-AD77E2EBA3B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6BB16D0-E6B6-4A0B-AA3C-82E249A56AA3}"/>
              </a:ext>
            </a:extLst>
          </p:cNvPr>
          <p:cNvSpPr>
            <a:spLocks noGrp="1"/>
          </p:cNvSpPr>
          <p:nvPr>
            <p:ph type="sldNum" idx="12"/>
          </p:nvPr>
        </p:nvSpPr>
        <p:spPr/>
        <p:txBody>
          <a:bodyPr/>
          <a:lstStyle/>
          <a:p>
            <a:fld id="{D5D0E0BB-C5BC-4E94-AD2F-C01416FBA9AF}" type="slidenum">
              <a:t>‹#›</a:t>
            </a:fld>
            <a:endParaRPr/>
          </a:p>
        </p:txBody>
      </p:sp>
      <p:sp>
        <p:nvSpPr>
          <p:cNvPr id="6" name="Date Placeholder 3">
            <a:extLst>
              <a:ext uri="{FF2B5EF4-FFF2-40B4-BE49-F238E27FC236}">
                <a16:creationId xmlns:a16="http://schemas.microsoft.com/office/drawing/2014/main" id="{582A38BB-2887-4FD9-86AB-3CB9E7DBEC0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7" name="Rectangle 6">
            <a:extLst>
              <a:ext uri="{FF2B5EF4-FFF2-40B4-BE49-F238E27FC236}">
                <a16:creationId xmlns:a16="http://schemas.microsoft.com/office/drawing/2014/main" id="{B3CCC56E-2CD0-475A-BB93-F15521069102}"/>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Slide Number Placeholder 5">
            <a:extLst>
              <a:ext uri="{FF2B5EF4-FFF2-40B4-BE49-F238E27FC236}">
                <a16:creationId xmlns:a16="http://schemas.microsoft.com/office/drawing/2014/main" id="{DDC88B74-23A8-45A2-9583-9D8AECF9E8B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9" name="Rectangle 8">
            <a:extLst>
              <a:ext uri="{FF2B5EF4-FFF2-40B4-BE49-F238E27FC236}">
                <a16:creationId xmlns:a16="http://schemas.microsoft.com/office/drawing/2014/main" id="{2EC26BE1-B69C-47D5-989E-551682669618}"/>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8"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9" name="Picture 10"/>
          <p:cNvPicPr>
            <a:picLocks noChangeAspect="1"/>
          </p:cNvPicPr>
          <p:nvPr/>
        </p:nvPicPr>
        <p:blipFill>
          <a:blip r:embed="rId3"/>
          <a:stretch>
            <a:fillRect/>
          </a:stretch>
        </p:blipFill>
        <p:spPr>
          <a:xfrm>
            <a:off x="8632729" y="6356350"/>
            <a:ext cx="3113396" cy="397339"/>
          </a:xfrm>
          <a:prstGeom prst="rect">
            <a:avLst/>
          </a:prstGeom>
        </p:spPr>
      </p:pic>
      <p:sp>
        <p:nvSpPr>
          <p:cNvPr id="15" name="Title 1">
            <a:extLst>
              <a:ext uri="{FF2B5EF4-FFF2-40B4-BE49-F238E27FC236}">
                <a16:creationId xmlns:a16="http://schemas.microsoft.com/office/drawing/2014/main" id="{4202D947-59FE-4D6C-AB1F-C647D513DC8A}"/>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7" name="Oval 16">
            <a:extLst>
              <a:ext uri="{FF2B5EF4-FFF2-40B4-BE49-F238E27FC236}">
                <a16:creationId xmlns:a16="http://schemas.microsoft.com/office/drawing/2014/main" id="{8D81744C-3842-48A6-86F7-416904F7029B}"/>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6713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idx="10"/>
          </p:nvPr>
        </p:nvSpPr>
        <p:spPr/>
        <p:txBody>
          <a:bodyPr/>
          <a:lstStyle/>
          <a:p>
            <a:fld id="{507A6976-490E-4B03-A9C3-CCC3E2FE72FE}" type="datetimeFigureOut">
              <a:t>10/18/26</a:t>
            </a:fld>
            <a:endParaRPr/>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idx="12"/>
          </p:nvPr>
        </p:nvSpPr>
        <p:spPr/>
        <p:txBody>
          <a:bodyPr/>
          <a:lstStyle/>
          <a:p>
            <a:fld id="{D5D0E0BB-C5BC-4E94-AD2F-C01416FBA9A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4323E"/>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idx="10"/>
          </p:nvPr>
        </p:nvSpPr>
        <p:spPr/>
        <p:txBody>
          <a:bodyPr/>
          <a:lstStyle/>
          <a:p>
            <a:fld id="{507A6976-490E-4B03-A9C3-CCC3E2FE72FE}" type="datetimeFigureOut">
              <a:t>10/18/26</a:t>
            </a:fld>
            <a:endParaRPr/>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idx="12"/>
          </p:nvPr>
        </p:nvSpPr>
        <p:spPr/>
        <p:txBody>
          <a:bodyPr/>
          <a:lstStyle/>
          <a:p>
            <a:fld id="{D5D0E0BB-C5BC-4E94-AD2F-C01416FBA9AF}" type="slidenum">
              <a:t>‹#›</a:t>
            </a:fld>
            <a:endParaRPr/>
          </a:p>
        </p:txBody>
      </p:sp>
      <p:pic>
        <p:nvPicPr>
          <p:cNvPr id="9" name="Picture 2"/>
          <p:cNvPicPr>
            <a:picLocks noChangeAspect="1"/>
          </p:cNvPicPr>
          <p:nvPr/>
        </p:nvPicPr>
        <p:blipFill>
          <a:blip r:embed="rId2"/>
          <a:srcRect/>
          <a:stretch>
            <a:fillRect/>
          </a:stretch>
        </p:blipFill>
        <p:spPr>
          <a:xfrm>
            <a:off x="4476750" y="6359832"/>
            <a:ext cx="3238500" cy="37147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34D5-7482-4CE6-B180-90A803F6A53E}"/>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9FBBA1A1-080F-4E12-90B8-C54E2FD3F44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9268D64-3E2B-4344-980C-2BB500AA671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91E65543-5D41-4C04-B6CE-015F8B3CFFFC}"/>
              </a:ext>
            </a:extLst>
          </p:cNvPr>
          <p:cNvSpPr>
            <a:spLocks noGrp="1"/>
          </p:cNvSpPr>
          <p:nvPr>
            <p:ph type="dt" idx="10"/>
          </p:nvPr>
        </p:nvSpPr>
        <p:spPr/>
        <p:txBody>
          <a:bodyPr/>
          <a:lstStyle/>
          <a:p>
            <a:fld id="{507A6976-490E-4B03-A9C3-CCC3E2FE72FE}" type="datetimeFigureOut">
              <a:t>10/18/26</a:t>
            </a:fld>
            <a:endParaRPr/>
          </a:p>
        </p:txBody>
      </p:sp>
      <p:sp>
        <p:nvSpPr>
          <p:cNvPr id="6" name="Footer Placeholder 5">
            <a:extLst>
              <a:ext uri="{FF2B5EF4-FFF2-40B4-BE49-F238E27FC236}">
                <a16:creationId xmlns:a16="http://schemas.microsoft.com/office/drawing/2014/main" id="{AE8D89D3-53D3-48C8-947B-BEAE68AF668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FEB3461-3888-4647-B8BB-A0AFFE899668}"/>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F48070AC-BA60-4FDB-9F03-76DEAE870C96}"/>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9" name="Rectangle 8">
            <a:extLst>
              <a:ext uri="{FF2B5EF4-FFF2-40B4-BE49-F238E27FC236}">
                <a16:creationId xmlns:a16="http://schemas.microsoft.com/office/drawing/2014/main" id="{3FADB978-C6DA-42F6-A6D6-0443AD2721F1}"/>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991605CD-36F4-4F07-8ECA-7E6CCB60F7A9}"/>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720E5A2E-745E-465E-84B4-A24161467CB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8" name="Oval 17">
            <a:extLst>
              <a:ext uri="{FF2B5EF4-FFF2-40B4-BE49-F238E27FC236}">
                <a16:creationId xmlns:a16="http://schemas.microsoft.com/office/drawing/2014/main" id="{55921EC9-1E1A-47EA-B2C4-250D909B9C57}"/>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5"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CC13-2ADF-4673-BDF4-8000115F26B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12EB7044-A1A9-49F4-ABF4-B746FB0DE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8FB8E2D-BD3A-493F-9A5F-D77FBBAD2A3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6264559-B16D-4AA6-A577-5BB955F44E92}"/>
              </a:ext>
            </a:extLst>
          </p:cNvPr>
          <p:cNvSpPr>
            <a:spLocks noGrp="1"/>
          </p:cNvSpPr>
          <p:nvPr>
            <p:ph type="dt" idx="10"/>
          </p:nvPr>
        </p:nvSpPr>
        <p:spPr/>
        <p:txBody>
          <a:bodyPr/>
          <a:lstStyle/>
          <a:p>
            <a:fld id="{507A6976-490E-4B03-A9C3-CCC3E2FE72FE}" type="datetimeFigureOut">
              <a:t>10/18/26</a:t>
            </a:fld>
            <a:endParaRPr/>
          </a:p>
        </p:txBody>
      </p:sp>
      <p:sp>
        <p:nvSpPr>
          <p:cNvPr id="6" name="Footer Placeholder 5">
            <a:extLst>
              <a:ext uri="{FF2B5EF4-FFF2-40B4-BE49-F238E27FC236}">
                <a16:creationId xmlns:a16="http://schemas.microsoft.com/office/drawing/2014/main" id="{A61D6D9D-AD31-4D01-8133-54A7360B51F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0A56075-A4E2-46C7-9C2F-8FCA4EBA4CD9}"/>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F566203F-284C-4271-9538-EF4E7C575832}"/>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9" name="Rectangle 8">
            <a:extLst>
              <a:ext uri="{FF2B5EF4-FFF2-40B4-BE49-F238E27FC236}">
                <a16:creationId xmlns:a16="http://schemas.microsoft.com/office/drawing/2014/main" id="{D2C6E445-DF60-499A-8C48-BCC0D30D7283}"/>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D0A4B937-E142-446F-90F9-C68999624990}"/>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9AB07112-7DF7-4628-B876-6B30C4146CD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8" name="Oval 17">
            <a:extLst>
              <a:ext uri="{FF2B5EF4-FFF2-40B4-BE49-F238E27FC236}">
                <a16:creationId xmlns:a16="http://schemas.microsoft.com/office/drawing/2014/main" id="{BF7808A0-C14F-4BEA-9CDD-C49E164D8404}"/>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5"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1721FC45-7050-4DC1-BBB5-4EF6A827EE2B}"/>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E11BF11-EDE7-4544-9157-83B81AC72A8D}"/>
              </a:ext>
            </a:extLst>
          </p:cNvPr>
          <p:cNvSpPr>
            <a:spLocks noGrp="1"/>
          </p:cNvSpPr>
          <p:nvPr>
            <p:ph type="dt" idx="10"/>
          </p:nvPr>
        </p:nvSpPr>
        <p:spPr/>
        <p:txBody>
          <a:bodyPr/>
          <a:lstStyle/>
          <a:p>
            <a:fld id="{507A6976-490E-4B03-A9C3-CCC3E2FE72FE}" type="datetimeFigureOut">
              <a:t>10/18/26</a:t>
            </a:fld>
            <a:endParaRPr/>
          </a:p>
        </p:txBody>
      </p:sp>
      <p:sp>
        <p:nvSpPr>
          <p:cNvPr id="5" name="Footer Placeholder 4">
            <a:extLst>
              <a:ext uri="{FF2B5EF4-FFF2-40B4-BE49-F238E27FC236}">
                <a16:creationId xmlns:a16="http://schemas.microsoft.com/office/drawing/2014/main" id="{BEE28599-E346-4E40-8555-70F984232AF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78859DD-ADCA-48ED-8863-E30F2BA32E13}"/>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564507A5-37BD-44C3-875F-309B2EEC2670}"/>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8" name="Rectangle 7">
            <a:extLst>
              <a:ext uri="{FF2B5EF4-FFF2-40B4-BE49-F238E27FC236}">
                <a16:creationId xmlns:a16="http://schemas.microsoft.com/office/drawing/2014/main" id="{BCCC970A-4E11-464D-9E73-91BF7B16BE35}"/>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C4133C02-13AA-4E0D-8684-3BEF3A909A9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287F7D4B-8021-4E40-881B-58CF4A21C57E}"/>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1" name="Picture 11"/>
          <p:cNvPicPr>
            <a:picLocks noChangeAspect="1"/>
          </p:cNvPicPr>
          <p:nvPr/>
        </p:nvPicPr>
        <p:blipFill>
          <a:blip r:embed="rId3"/>
          <a:stretch>
            <a:fillRect/>
          </a:stretch>
        </p:blipFill>
        <p:spPr>
          <a:xfrm>
            <a:off x="8632729" y="6356350"/>
            <a:ext cx="3113396" cy="397339"/>
          </a:xfrm>
          <a:prstGeom prst="rect">
            <a:avLst/>
          </a:prstGeom>
        </p:spPr>
      </p:pic>
      <p:sp>
        <p:nvSpPr>
          <p:cNvPr id="16" name="Title 1">
            <a:extLst>
              <a:ext uri="{FF2B5EF4-FFF2-40B4-BE49-F238E27FC236}">
                <a16:creationId xmlns:a16="http://schemas.microsoft.com/office/drawing/2014/main" id="{B6EEE38B-5D63-4BA2-8F88-3C264D3CF821}"/>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8" name="Oval 17">
            <a:extLst>
              <a:ext uri="{FF2B5EF4-FFF2-40B4-BE49-F238E27FC236}">
                <a16:creationId xmlns:a16="http://schemas.microsoft.com/office/drawing/2014/main" id="{C01846D5-932A-410E-B1BA-F40084784FEF}"/>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F565A-D641-4F97-97FA-76BE4D7E130C}"/>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B0B5D24-6263-4A80-9414-895E66223A90}"/>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68037AF-BAE3-4BB1-8CF8-7341FC0C9052}"/>
              </a:ext>
            </a:extLst>
          </p:cNvPr>
          <p:cNvSpPr>
            <a:spLocks noGrp="1"/>
          </p:cNvSpPr>
          <p:nvPr>
            <p:ph type="dt" idx="10"/>
          </p:nvPr>
        </p:nvSpPr>
        <p:spPr/>
        <p:txBody>
          <a:bodyPr/>
          <a:lstStyle/>
          <a:p>
            <a:fld id="{507A6976-490E-4B03-A9C3-CCC3E2FE72FE}" type="datetimeFigureOut">
              <a:t>10/18/26</a:t>
            </a:fld>
            <a:endParaRPr/>
          </a:p>
        </p:txBody>
      </p:sp>
      <p:sp>
        <p:nvSpPr>
          <p:cNvPr id="5" name="Footer Placeholder 4">
            <a:extLst>
              <a:ext uri="{FF2B5EF4-FFF2-40B4-BE49-F238E27FC236}">
                <a16:creationId xmlns:a16="http://schemas.microsoft.com/office/drawing/2014/main" id="{5B91810C-95F7-4441-BA87-CFB309551B3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8BD234A-AFB0-4695-A486-2A270860A0A1}"/>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B4D0ED06-B62E-43BF-B07A-F5AFB8B16F55}"/>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10/18/26</a:t>
            </a:fld>
            <a:endParaRPr/>
          </a:p>
        </p:txBody>
      </p:sp>
      <p:sp>
        <p:nvSpPr>
          <p:cNvPr id="8" name="Rectangle 7">
            <a:extLst>
              <a:ext uri="{FF2B5EF4-FFF2-40B4-BE49-F238E27FC236}">
                <a16:creationId xmlns:a16="http://schemas.microsoft.com/office/drawing/2014/main" id="{9458E507-D487-4955-82CE-74626DB61F3F}"/>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B1C0A531-7B30-4A21-A81B-6C9DEA3E7AA1}"/>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C21323BC-D1EA-42FF-9D19-CE416E1EFC7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8" name="Picture 11"/>
          <p:cNvPicPr>
            <a:picLocks noChangeAspect="1"/>
          </p:cNvPicPr>
          <p:nvPr/>
        </p:nvPicPr>
        <p:blipFill>
          <a:blip r:embed="rId3"/>
          <a:stretch>
            <a:fillRect/>
          </a:stretch>
        </p:blipFill>
        <p:spPr>
          <a:xfrm>
            <a:off x="8632729" y="6356350"/>
            <a:ext cx="3113396" cy="397339"/>
          </a:xfrm>
          <a:prstGeom prst="rect">
            <a:avLst/>
          </a:prstGeom>
        </p:spPr>
      </p:pic>
      <p:sp>
        <p:nvSpPr>
          <p:cNvPr id="14" name="Oval 13">
            <a:extLst>
              <a:ext uri="{FF2B5EF4-FFF2-40B4-BE49-F238E27FC236}">
                <a16:creationId xmlns:a16="http://schemas.microsoft.com/office/drawing/2014/main" id="{3A178CFE-39AA-4BAF-8E4C-064D7855B869}"/>
              </a:ext>
            </a:extLst>
          </p:cNvPr>
          <p:cNvSpPr>
            <a:spLocks noGrp="1"/>
          </p:cNvSpPr>
          <p:nvPr/>
        </p:nvSpPr>
        <p:spPr>
          <a:xfrm>
            <a:off x="250480"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10"/>
          <p:cNvPicPr>
            <a:picLocks noChangeAspect="1"/>
          </p:cNvPicPr>
          <p:nvPr/>
        </p:nvPicPr>
        <p:blipFill rotWithShape="1">
          <a:blip r:embed="rId4"/>
          <a:srcRect r="62081" b="-3750"/>
          <a:stretch/>
        </p:blipFill>
        <p:spPr>
          <a:xfrm>
            <a:off x="335578" y="514551"/>
            <a:ext cx="812647" cy="64233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21925-1424-4D8F-AF7E-1B3B195339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A533325-5FE6-4AB3-A20A-EC02DC2C8C3A}"/>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23AB5E8-1ACB-4ABB-8B65-AC862C347F9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07A6976-490E-4B03-A9C3-CCC3E2FE72FE}" type="datetimeFigureOut">
              <a:t>10/18/26</a:t>
            </a:fld>
            <a:endParaRPr/>
          </a:p>
        </p:txBody>
      </p:sp>
      <p:sp>
        <p:nvSpPr>
          <p:cNvPr id="5" name="Footer Placeholder 4">
            <a:extLst>
              <a:ext uri="{FF2B5EF4-FFF2-40B4-BE49-F238E27FC236}">
                <a16:creationId xmlns:a16="http://schemas.microsoft.com/office/drawing/2014/main" id="{6826ABD5-7A3E-41B2-B4E2-887CD76836C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E43BBF44-0E73-4652-846C-273B849FE42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5D0E0BB-C5BC-4E94-AD2F-C01416FBA9A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915C-4793-4D8A-854D-31F5DC15B95B}"/>
              </a:ext>
            </a:extLst>
          </p:cNvPr>
          <p:cNvSpPr>
            <a:spLocks noGrp="1"/>
          </p:cNvSpPr>
          <p:nvPr>
            <p:ph type="ctrTitle"/>
          </p:nvPr>
        </p:nvSpPr>
        <p:spPr>
          <a:xfrm>
            <a:off x="7486650" y="1857375"/>
            <a:ext cx="4191000" cy="1000125"/>
          </a:xfrm>
        </p:spPr>
        <p:txBody>
          <a:bodyPr lIns="0" tIns="0" rIns="0" bIns="0" anchor="b">
            <a:noAutofit/>
          </a:bodyPr>
          <a:lstStyle/>
          <a:p>
            <a:pPr algn="l">
              <a:buNone/>
              <a:defRPr sz="7200">
                <a:solidFill>
                  <a:srgbClr val="24323E"/>
                </a:solidFill>
                <a:latin typeface="Times New Roman"/>
                <a:ea typeface="Times New Roman"/>
                <a:cs typeface="Times New Roman"/>
              </a:defRPr>
            </a:pPr>
            <a:r>
              <a:rPr sz="6600">
                <a:solidFill>
                  <a:srgbClr val="24323E"/>
                </a:solidFill>
                <a:latin typeface="Times New Roman"/>
                <a:ea typeface="Times New Roman"/>
                <a:cs typeface="Times New Roman"/>
              </a:rPr>
              <a:t>Midterm</a:t>
            </a:r>
            <a:br/>
            <a:r>
              <a:rPr sz="6600">
                <a:solidFill>
                  <a:srgbClr val="24323E"/>
                </a:solidFill>
                <a:latin typeface="Times New Roman"/>
                <a:ea typeface="Times New Roman"/>
                <a:cs typeface="Times New Roman"/>
              </a:rPr>
              <a:t>Kickoff</a:t>
            </a:r>
          </a:p>
        </p:txBody>
      </p:sp>
      <p:sp>
        <p:nvSpPr>
          <p:cNvPr id="3" name="Subtitle 2">
            <a:extLst>
              <a:ext uri="{FF2B5EF4-FFF2-40B4-BE49-F238E27FC236}">
                <a16:creationId xmlns:a16="http://schemas.microsoft.com/office/drawing/2014/main" id="{BCDC19E3-847F-4896-92C1-562A61A4DF91}"/>
              </a:ext>
            </a:extLst>
          </p:cNvPr>
          <p:cNvSpPr>
            <a:spLocks noGrp="1"/>
          </p:cNvSpPr>
          <p:nvPr>
            <p:ph type="subTitle" idx="1"/>
          </p:nvPr>
        </p:nvSpPr>
        <p:spPr>
          <a:xfrm>
            <a:off x="7524750" y="3133725"/>
            <a:ext cx="4000500" cy="1276350"/>
          </a:xfrm>
        </p:spPr>
        <p:txBody>
          <a:bodyPr lIns="0" tIns="0" rIns="0" bIns="0" anchor="t">
            <a:noAutofit/>
          </a:bodyPr>
          <a:lstStyle/>
          <a:p>
            <a:pPr algn="l">
              <a:buNone/>
              <a:defRPr sz="3100">
                <a:solidFill>
                  <a:srgbClr val="24323E"/>
                </a:solidFill>
                <a:latin typeface="Times New Roman"/>
                <a:ea typeface="Times New Roman"/>
                <a:cs typeface="Times New Roman"/>
              </a:defRPr>
            </a:pPr>
            <a:r>
              <a:rPr sz="3100">
                <a:solidFill>
                  <a:srgbClr val="24323E"/>
                </a:solidFill>
                <a:latin typeface="Times New Roman"/>
                <a:ea typeface="Times New Roman"/>
                <a:cs typeface="Times New Roman"/>
              </a:rPr>
              <a:t>Walmart hurricane</a:t>
            </a:r>
          </a:p>
          <a:p>
            <a:pPr algn="l">
              <a:buNone/>
              <a:defRPr sz="3100">
                <a:solidFill>
                  <a:srgbClr val="24323E"/>
                </a:solidFill>
                <a:latin typeface="Times New Roman"/>
                <a:ea typeface="Times New Roman"/>
                <a:cs typeface="Times New Roman"/>
              </a:defRPr>
            </a:pPr>
            <a:r>
              <a:rPr sz="3100">
                <a:solidFill>
                  <a:srgbClr val="24323E"/>
                </a:solidFill>
                <a:latin typeface="Times New Roman"/>
                <a:ea typeface="Times New Roman"/>
                <a:cs typeface="Times New Roman"/>
              </a:rPr>
              <a:t>analytics</a:t>
            </a:r>
          </a:p>
        </p:txBody>
      </p:sp>
      <p:pic>
        <p:nvPicPr>
          <p:cNvPr id="15" name="Picture 2"/>
          <p:cNvPicPr>
            <a:picLocks noChangeAspect="1"/>
          </p:cNvPicPr>
          <p:nvPr/>
        </p:nvPicPr>
        <p:blipFill rotWithShape="1">
          <a:blip r:embed="rId3"/>
          <a:srcRect l="8064" r="8619" b="1"/>
          <a:stretch/>
        </p:blipFill>
        <p:spPr>
          <a:xfrm>
            <a:off x="1" y="10"/>
            <a:ext cx="7028495" cy="6857990"/>
          </a:xfrm>
        </p:spPr>
      </p:pic>
      <p:sp>
        <p:nvSpPr>
          <p:cNvPr id="9" name="Subtitle 2">
            <a:extLst>
              <a:ext uri="{FF2B5EF4-FFF2-40B4-BE49-F238E27FC236}">
                <a16:creationId xmlns:a16="http://schemas.microsoft.com/office/drawing/2014/main" id="{A48EACD5-346E-4647-A516-131E85C7CD40}"/>
              </a:ext>
            </a:extLst>
          </p:cNvPr>
          <p:cNvSpPr>
            <a:spLocks noGrp="1"/>
          </p:cNvSpPr>
          <p:nvPr/>
        </p:nvSpPr>
        <p:spPr>
          <a:xfrm>
            <a:off x="7524750" y="4886325"/>
            <a:ext cx="4000500" cy="1047750"/>
          </a:xfrm>
          <a:prstGeom prst="rect">
            <a:avLst/>
          </a:prstGeom>
        </p:spPr>
        <p:txBody>
          <a:bodyPr vert="horz" lIns="0" tIns="0" rIns="0" bIns="0" anchor="t">
            <a:noAutofit/>
          </a:bodyPr>
          <a:lstStyle>
            <a:lvl1pPr marL="0" indent="0" algn="ctr" defTabSz="914400">
              <a:lnSpc>
                <a:spcPct val="90000"/>
              </a:lnSpc>
              <a:spcBef>
                <a:spcPts val="1000"/>
              </a:spcBef>
              <a:buFont typeface="Arial"/>
              <a:buNone/>
              <a:defRPr sz="2400" kern="1200">
                <a:solidFill>
                  <a:schemeClr val="tx1"/>
                </a:solidFill>
                <a:latin typeface="Times New Roman"/>
                <a:ea typeface="Times New Roman"/>
                <a:cs typeface="Times New Roman"/>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gn="l">
              <a:buNone/>
              <a:defRPr sz="2000">
                <a:solidFill>
                  <a:srgbClr val="24323E"/>
                </a:solidFill>
                <a:latin typeface="Times New Roman"/>
                <a:ea typeface="Times New Roman"/>
                <a:cs typeface="Times New Roman"/>
              </a:defRPr>
            </a:pPr>
            <a:r>
              <a:rPr sz="2000">
                <a:solidFill>
                  <a:srgbClr val="24323E"/>
                </a:solidFill>
                <a:latin typeface="Times New Roman"/>
                <a:ea typeface="Times New Roman"/>
                <a:cs typeface="Times New Roman"/>
              </a:rPr>
              <a:t>DS-2002</a:t>
            </a:r>
          </a:p>
          <a:p>
            <a:pPr algn="l">
              <a:buNone/>
              <a:defRPr sz="2000">
                <a:solidFill>
                  <a:srgbClr val="24323E"/>
                </a:solidFill>
                <a:latin typeface="Times New Roman"/>
                <a:ea typeface="Times New Roman"/>
                <a:cs typeface="Times New Roman"/>
              </a:defRPr>
            </a:pPr>
            <a:r>
              <a:rPr sz="2000">
                <a:solidFill>
                  <a:srgbClr val="24323E"/>
                </a:solidFill>
                <a:latin typeface="Times New Roman"/>
                <a:ea typeface="Times New Roman"/>
                <a:cs typeface="Times New Roman"/>
              </a:rPr>
              <a:t>Jason Williamson</a:t>
            </a:r>
          </a:p>
          <a:p>
            <a:pPr algn="l">
              <a:buNone/>
              <a:defRPr sz="2000">
                <a:solidFill>
                  <a:srgbClr val="24323E"/>
                </a:solidFill>
                <a:latin typeface="Times New Roman"/>
                <a:ea typeface="Times New Roman"/>
                <a:cs typeface="Times New Roman"/>
              </a:defRPr>
            </a:pPr>
            <a:r>
              <a:rPr sz="2000">
                <a:solidFill>
                  <a:srgbClr val="24323E"/>
                </a:solidFill>
                <a:latin typeface="Times New Roman"/>
                <a:ea typeface="Times New Roman"/>
                <a:cs typeface="Times New Roman"/>
              </a:rPr>
              <a:t>Fall 2026</a:t>
            </a:r>
          </a:p>
        </p:txBody>
      </p:sp>
      <p:pic>
        <p:nvPicPr>
          <p:cNvPr id="4" name="Picture 2" descr="Virginia Cavaliers Official Athletic Site">
            <a:extLst>
              <a:ext uri="{FF2B5EF4-FFF2-40B4-BE49-F238E27FC236}">
                <a16:creationId xmlns:a16="http://schemas.microsoft.com/office/drawing/2014/main" id="{9EA57D3E-079B-E136-920C-DBACCDAA00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64" r="8619" b="1"/>
          <a:stretch/>
        </p:blipFill>
        <p:spPr bwMode="auto">
          <a:xfrm>
            <a:off x="514350" y="329082"/>
            <a:ext cx="6088763" cy="5941055"/>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44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What we're doing </a:t>
            </a:r>
            <a:r>
              <a:rPr sz="3788" b="0" i="0">
                <a:solidFill>
                  <a:srgbClr val="F67132"/>
                </a:solidFill>
                <a:latin typeface="Times New Roman"/>
                <a:ea typeface="Times New Roman"/>
                <a:cs typeface="Times New Roman"/>
              </a:rPr>
              <a:t>today</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02</a:t>
            </a:r>
          </a:p>
        </p:txBody>
      </p:sp>
      <p:sp>
        <p:nvSpPr>
          <p:cNvPr id="4" name="TextBox 3"/>
          <p:cNvSpPr txBox="1"/>
          <p:nvPr/>
        </p:nvSpPr>
        <p:spPr>
          <a:xfrm>
            <a:off x="603504" y="1380744"/>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01</a:t>
            </a:r>
          </a:p>
        </p:txBody>
      </p:sp>
      <p:sp>
        <p:nvSpPr>
          <p:cNvPr id="5" name="TextBox 4"/>
          <p:cNvSpPr txBox="1"/>
          <p:nvPr/>
        </p:nvSpPr>
        <p:spPr>
          <a:xfrm>
            <a:off x="1481328" y="1380744"/>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Talk it through</a:t>
            </a:r>
          </a:p>
        </p:txBody>
      </p:sp>
      <p:sp>
        <p:nvSpPr>
          <p:cNvPr id="6" name="TextBox 5"/>
          <p:cNvSpPr txBox="1"/>
          <p:nvPr/>
        </p:nvSpPr>
        <p:spPr>
          <a:xfrm>
            <a:off x="4956048" y="1380744"/>
            <a:ext cx="6245352" cy="1014983"/>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What you're building, how it's graded, and the three weeks ahead.</a:t>
            </a:r>
          </a:p>
        </p:txBody>
      </p:sp>
      <p:sp>
        <p:nvSpPr>
          <p:cNvPr id="7" name="TextBox 6"/>
          <p:cNvSpPr txBox="1"/>
          <p:nvPr/>
        </p:nvSpPr>
        <p:spPr>
          <a:xfrm>
            <a:off x="603504" y="2487168"/>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02</a:t>
            </a:r>
          </a:p>
        </p:txBody>
      </p:sp>
      <p:sp>
        <p:nvSpPr>
          <p:cNvPr id="8" name="TextBox 7"/>
          <p:cNvSpPr txBox="1"/>
          <p:nvPr/>
        </p:nvSpPr>
        <p:spPr>
          <a:xfrm>
            <a:off x="1481328" y="2487168"/>
            <a:ext cx="3191256" cy="493776"/>
          </a:xfrm>
          <a:prstGeom prst="rect">
            <a:avLst/>
          </a:prstGeom>
          <a:noFill/>
        </p:spPr>
        <p:txBody>
          <a:bodyPr wrap="square" lIns="0" tIns="0" rIns="0" bIns="0" anchor="t">
            <a:noAutofit/>
          </a:bodyPr>
          <a:lstStyle/>
          <a:p>
            <a:pPr algn="l">
              <a:lnSpc>
                <a:spcPct val="105000"/>
              </a:lnSpc>
              <a:spcAft>
                <a:spcPts val="0"/>
              </a:spcAft>
            </a:pPr>
            <a:r>
              <a:rPr sz="2400" b="1" i="0" dirty="0">
                <a:solidFill>
                  <a:srgbClr val="24323E"/>
                </a:solidFill>
                <a:latin typeface="Times New Roman"/>
                <a:ea typeface="Times New Roman"/>
                <a:cs typeface="Times New Roman"/>
              </a:rPr>
              <a:t>Form teams</a:t>
            </a:r>
            <a:r>
              <a:rPr lang="en-US" sz="2400" b="1" i="0" dirty="0">
                <a:solidFill>
                  <a:srgbClr val="24323E"/>
                </a:solidFill>
                <a:latin typeface="Times New Roman"/>
                <a:ea typeface="Times New Roman"/>
                <a:cs typeface="Times New Roman"/>
              </a:rPr>
              <a:t> (prob done)</a:t>
            </a:r>
            <a:endParaRPr sz="2400" b="1" i="0" dirty="0">
              <a:solidFill>
                <a:srgbClr val="24323E"/>
              </a:solidFill>
              <a:latin typeface="Times New Roman"/>
              <a:ea typeface="Times New Roman"/>
              <a:cs typeface="Times New Roman"/>
            </a:endParaRPr>
          </a:p>
        </p:txBody>
      </p:sp>
      <p:sp>
        <p:nvSpPr>
          <p:cNvPr id="9" name="TextBox 8"/>
          <p:cNvSpPr txBox="1"/>
          <p:nvPr/>
        </p:nvSpPr>
        <p:spPr>
          <a:xfrm>
            <a:off x="4956048" y="2487168"/>
            <a:ext cx="6245352" cy="1014983"/>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Pick teammates, look at the data together, and set up a repo.</a:t>
            </a:r>
          </a:p>
        </p:txBody>
      </p:sp>
      <p:sp>
        <p:nvSpPr>
          <p:cNvPr id="10" name="TextBox 9"/>
          <p:cNvSpPr txBox="1"/>
          <p:nvPr/>
        </p:nvSpPr>
        <p:spPr>
          <a:xfrm>
            <a:off x="603504" y="3593591"/>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03</a:t>
            </a:r>
          </a:p>
        </p:txBody>
      </p:sp>
      <p:sp>
        <p:nvSpPr>
          <p:cNvPr id="11" name="TextBox 10"/>
          <p:cNvSpPr txBox="1"/>
          <p:nvPr/>
        </p:nvSpPr>
        <p:spPr>
          <a:xfrm>
            <a:off x="1481328" y="3593591"/>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Write the charter</a:t>
            </a:r>
          </a:p>
        </p:txBody>
      </p:sp>
      <p:sp>
        <p:nvSpPr>
          <p:cNvPr id="12" name="TextBox 11"/>
          <p:cNvSpPr txBox="1"/>
          <p:nvPr/>
        </p:nvSpPr>
        <p:spPr>
          <a:xfrm>
            <a:off x="4956048" y="3593591"/>
            <a:ext cx="6245352" cy="1014983"/>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Goals, roles, question owners, and how you'll work together.</a:t>
            </a:r>
          </a:p>
        </p:txBody>
      </p:sp>
      <p:sp>
        <p:nvSpPr>
          <p:cNvPr id="13" name="TextBox 12"/>
          <p:cNvSpPr txBox="1"/>
          <p:nvPr/>
        </p:nvSpPr>
        <p:spPr>
          <a:xfrm>
            <a:off x="603504" y="4700016"/>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04</a:t>
            </a:r>
          </a:p>
        </p:txBody>
      </p:sp>
      <p:sp>
        <p:nvSpPr>
          <p:cNvPr id="14" name="TextBox 13"/>
          <p:cNvSpPr txBox="1"/>
          <p:nvPr/>
        </p:nvSpPr>
        <p:spPr>
          <a:xfrm>
            <a:off x="1481328" y="4700016"/>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Plan the week</a:t>
            </a:r>
          </a:p>
        </p:txBody>
      </p:sp>
      <p:sp>
        <p:nvSpPr>
          <p:cNvPr id="15" name="TextBox 14"/>
          <p:cNvSpPr txBox="1"/>
          <p:nvPr/>
        </p:nvSpPr>
        <p:spPr>
          <a:xfrm>
            <a:off x="4956048" y="4700016"/>
            <a:ext cx="6245352" cy="1014983"/>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Some of this finishes outside class, so pick a meeting time before you leave.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You are Walmart's </a:t>
            </a:r>
            <a:r>
              <a:rPr sz="3788" b="0" i="0">
                <a:solidFill>
                  <a:srgbClr val="F67132"/>
                </a:solidFill>
                <a:latin typeface="Times New Roman"/>
                <a:ea typeface="Times New Roman"/>
                <a:cs typeface="Times New Roman"/>
              </a:rPr>
              <a:t>data science consultants</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03</a:t>
            </a:r>
          </a:p>
        </p:txBody>
      </p:sp>
      <p:sp>
        <p:nvSpPr>
          <p:cNvPr id="4" name="TextBox 3"/>
          <p:cNvSpPr txBox="1"/>
          <p:nvPr/>
        </p:nvSpPr>
        <p:spPr>
          <a:xfrm>
            <a:off x="603504" y="1307592"/>
            <a:ext cx="10671048" cy="1097280"/>
          </a:xfrm>
          <a:prstGeom prst="rect">
            <a:avLst/>
          </a:prstGeom>
          <a:noFill/>
        </p:spPr>
        <p:txBody>
          <a:bodyPr wrap="square" lIns="0" tIns="0" rIns="0" bIns="0" anchor="t">
            <a:noAutofit/>
          </a:bodyPr>
          <a:lstStyle/>
          <a:p>
            <a:pPr algn="l">
              <a:lnSpc>
                <a:spcPct val="105000"/>
              </a:lnSpc>
              <a:spcAft>
                <a:spcPts val="0"/>
              </a:spcAft>
            </a:pPr>
            <a:r>
              <a:rPr sz="3300" b="1" i="0">
                <a:solidFill>
                  <a:srgbClr val="24323E"/>
                </a:solidFill>
                <a:latin typeface="Times New Roman"/>
                <a:ea typeface="Times New Roman"/>
                <a:cs typeface="Times New Roman"/>
              </a:rPr>
              <a:t>A new hurricane is forming.</a:t>
            </a:r>
          </a:p>
          <a:p>
            <a:pPr algn="l">
              <a:lnSpc>
                <a:spcPct val="105000"/>
              </a:lnSpc>
              <a:spcAft>
                <a:spcPts val="0"/>
              </a:spcAft>
            </a:pPr>
            <a:r>
              <a:rPr sz="3300" b="1" i="0">
                <a:solidFill>
                  <a:srgbClr val="24323E"/>
                </a:solidFill>
                <a:latin typeface="Times New Roman"/>
                <a:ea typeface="Times New Roman"/>
                <a:cs typeface="Times New Roman"/>
              </a:rPr>
              <a:t>Leadership wants answers fast.</a:t>
            </a:r>
          </a:p>
        </p:txBody>
      </p:sp>
      <p:sp>
        <p:nvSpPr>
          <p:cNvPr id="5" name="TextBox 4"/>
          <p:cNvSpPr txBox="1"/>
          <p:nvPr/>
        </p:nvSpPr>
        <p:spPr>
          <a:xfrm>
            <a:off x="603504" y="2916936"/>
            <a:ext cx="4809744"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What you have</a:t>
            </a:r>
          </a:p>
        </p:txBody>
      </p:sp>
      <p:sp>
        <p:nvSpPr>
          <p:cNvPr id="6" name="TextBox 5"/>
          <p:cNvSpPr txBox="1"/>
          <p:nvPr/>
        </p:nvSpPr>
        <p:spPr>
          <a:xfrm>
            <a:off x="603504" y="3364992"/>
            <a:ext cx="4809744" cy="17373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Five data files that don't agree with each other: sales, stores, products, distribution centers, and an inventory database. All of them have problems, on purpose.</a:t>
            </a:r>
          </a:p>
        </p:txBody>
      </p:sp>
      <p:sp>
        <p:nvSpPr>
          <p:cNvPr id="7" name="TextBox 6"/>
          <p:cNvSpPr txBox="1"/>
          <p:nvPr/>
        </p:nvSpPr>
        <p:spPr>
          <a:xfrm>
            <a:off x="6382512" y="2916936"/>
            <a:ext cx="4809744"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What you do</a:t>
            </a:r>
          </a:p>
        </p:txBody>
      </p:sp>
      <p:sp>
        <p:nvSpPr>
          <p:cNvPr id="8" name="TextBox 7"/>
          <p:cNvSpPr txBox="1"/>
          <p:nvPr/>
        </p:nvSpPr>
        <p:spPr>
          <a:xfrm>
            <a:off x="6382512" y="3364992"/>
            <a:ext cx="4809744" cy="17373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Clean the data until you can trust it, add real weather from an API, answer five questions, and tell leadership what to do.</a:t>
            </a:r>
          </a:p>
        </p:txBody>
      </p:sp>
      <p:sp>
        <p:nvSpPr>
          <p:cNvPr id="9" name="TextBox 8"/>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Last week's case was the story. This project is the work behind the story.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What you </a:t>
            </a:r>
            <a:r>
              <a:rPr sz="3788" b="0" i="0">
                <a:solidFill>
                  <a:srgbClr val="F67132"/>
                </a:solidFill>
                <a:latin typeface="Times New Roman"/>
                <a:ea typeface="Times New Roman"/>
                <a:cs typeface="Times New Roman"/>
              </a:rPr>
              <a:t>hand in</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04</a:t>
            </a:r>
          </a:p>
        </p:txBody>
      </p:sp>
      <p:sp>
        <p:nvSpPr>
          <p:cNvPr id="4" name="TextBox 3"/>
          <p:cNvSpPr txBox="1"/>
          <p:nvPr/>
        </p:nvSpPr>
        <p:spPr>
          <a:xfrm>
            <a:off x="603504" y="137160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One notebook</a:t>
            </a:r>
          </a:p>
        </p:txBody>
      </p:sp>
      <p:sp>
        <p:nvSpPr>
          <p:cNvPr id="5" name="TextBox 4"/>
          <p:cNvSpPr txBox="1"/>
          <p:nvPr/>
        </p:nvSpPr>
        <p:spPr>
          <a:xfrm>
            <a:off x="603504" y="1819656"/>
            <a:ext cx="5125212" cy="137160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Runs top to bottom. Cleaning, weather, the five questions, and at least six plots.</a:t>
            </a:r>
          </a:p>
        </p:txBody>
      </p:sp>
      <p:sp>
        <p:nvSpPr>
          <p:cNvPr id="6" name="TextBox 5"/>
          <p:cNvSpPr txBox="1"/>
          <p:nvPr/>
        </p:nvSpPr>
        <p:spPr>
          <a:xfrm>
            <a:off x="6387083" y="137160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A reflection</a:t>
            </a:r>
          </a:p>
        </p:txBody>
      </p:sp>
      <p:sp>
        <p:nvSpPr>
          <p:cNvPr id="7" name="TextBox 6"/>
          <p:cNvSpPr txBox="1"/>
          <p:nvPr/>
        </p:nvSpPr>
        <p:spPr>
          <a:xfrm>
            <a:off x="6387083" y="1819656"/>
            <a:ext cx="5125212" cy="137160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Five questions, one solid paragraph each. Every team member contributes.</a:t>
            </a:r>
          </a:p>
        </p:txBody>
      </p:sp>
      <p:sp>
        <p:nvSpPr>
          <p:cNvPr id="8" name="TextBox 7"/>
          <p:cNvSpPr txBox="1"/>
          <p:nvPr/>
        </p:nvSpPr>
        <p:spPr>
          <a:xfrm>
            <a:off x="603504" y="329184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A README</a:t>
            </a:r>
          </a:p>
        </p:txBody>
      </p:sp>
      <p:sp>
        <p:nvSpPr>
          <p:cNvPr id="9" name="TextBox 8"/>
          <p:cNvSpPr txBox="1"/>
          <p:nvPr/>
        </p:nvSpPr>
        <p:spPr>
          <a:xfrm>
            <a:off x="603504" y="3739896"/>
            <a:ext cx="5125212" cy="137160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In your team's repo, linked in Canvas along with everything else.</a:t>
            </a:r>
          </a:p>
        </p:txBody>
      </p:sp>
      <p:sp>
        <p:nvSpPr>
          <p:cNvPr id="10" name="TextBox 9"/>
          <p:cNvSpPr txBox="1"/>
          <p:nvPr/>
        </p:nvSpPr>
        <p:spPr>
          <a:xfrm>
            <a:off x="6387083" y="329184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A presentation</a:t>
            </a:r>
          </a:p>
        </p:txBody>
      </p:sp>
      <p:sp>
        <p:nvSpPr>
          <p:cNvPr id="11" name="TextBox 10"/>
          <p:cNvSpPr txBox="1"/>
          <p:nvPr/>
        </p:nvSpPr>
        <p:spPr>
          <a:xfrm>
            <a:off x="6387083" y="3739896"/>
            <a:ext cx="5125212" cy="137160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Monday, November 2. Six minutes, plus two for questions.</a:t>
            </a:r>
          </a:p>
        </p:txBody>
      </p:sp>
      <p:sp>
        <p:nvSpPr>
          <p:cNvPr id="12" name="TextBox 11"/>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The notebook has to run clean from Restart and Run All.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How it's </a:t>
            </a:r>
            <a:r>
              <a:rPr sz="3788" b="0" i="0">
                <a:solidFill>
                  <a:srgbClr val="F67132"/>
                </a:solidFill>
                <a:latin typeface="Times New Roman"/>
                <a:ea typeface="Times New Roman"/>
                <a:cs typeface="Times New Roman"/>
              </a:rPr>
              <a:t>graded</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05</a:t>
            </a:r>
          </a:p>
        </p:txBody>
      </p:sp>
      <p:graphicFrame>
        <p:nvGraphicFramePr>
          <p:cNvPr id="4" name="Table 3"/>
          <p:cNvGraphicFramePr>
            <a:graphicFrameLocks noGrp="1"/>
          </p:cNvGraphicFramePr>
          <p:nvPr/>
        </p:nvGraphicFramePr>
        <p:xfrm>
          <a:off x="603504" y="1289304"/>
          <a:ext cx="10954512" cy="3822190"/>
        </p:xfrm>
        <a:graphic>
          <a:graphicData uri="http://schemas.openxmlformats.org/drawingml/2006/table">
            <a:tbl>
              <a:tblPr/>
              <a:tblGrid>
                <a:gridCol w="2651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7022592">
                  <a:extLst>
                    <a:ext uri="{9D8B030D-6E8A-4147-A177-3AD203B41FA5}">
                      <a16:colId xmlns:a16="http://schemas.microsoft.com/office/drawing/2014/main" val="20002"/>
                    </a:ext>
                  </a:extLst>
                </a:gridCol>
              </a:tblGrid>
              <a:tr h="603504">
                <a:tc>
                  <a:txBody>
                    <a:bodyPr/>
                    <a:lstStyle/>
                    <a:p>
                      <a:r>
                        <a:rPr sz="2000" b="1" i="0">
                          <a:solidFill>
                            <a:srgbClr val="FFFFFF"/>
                          </a:solidFill>
                          <a:latin typeface="Times New Roman"/>
                          <a:ea typeface="Times New Roman"/>
                          <a:cs typeface="Times New Roman"/>
                        </a:rPr>
                        <a:t>Piece</a:t>
                      </a:r>
                    </a:p>
                  </a:txBody>
                  <a:tcPr anchor="ctr">
                    <a:solidFill>
                      <a:srgbClr val="24323E"/>
                    </a:solidFill>
                  </a:tcPr>
                </a:tc>
                <a:tc>
                  <a:txBody>
                    <a:bodyPr/>
                    <a:lstStyle/>
                    <a:p>
                      <a:r>
                        <a:rPr sz="2000" b="1" i="0">
                          <a:solidFill>
                            <a:srgbClr val="FFFFFF"/>
                          </a:solidFill>
                          <a:latin typeface="Times New Roman"/>
                          <a:ea typeface="Times New Roman"/>
                          <a:cs typeface="Times New Roman"/>
                        </a:rPr>
                        <a:t>Weight</a:t>
                      </a:r>
                    </a:p>
                  </a:txBody>
                  <a:tcPr anchor="ctr">
                    <a:solidFill>
                      <a:srgbClr val="24323E"/>
                    </a:solidFill>
                  </a:tcPr>
                </a:tc>
                <a:tc>
                  <a:txBody>
                    <a:bodyPr/>
                    <a:lstStyle/>
                    <a:p>
                      <a:r>
                        <a:rPr sz="2000" b="1" i="0">
                          <a:solidFill>
                            <a:srgbClr val="FFFFFF"/>
                          </a:solidFill>
                          <a:latin typeface="Times New Roman"/>
                          <a:ea typeface="Times New Roman"/>
                          <a:cs typeface="Times New Roman"/>
                        </a:rPr>
                        <a:t>What we look for</a:t>
                      </a:r>
                    </a:p>
                  </a:txBody>
                  <a:tcPr anchor="ctr">
                    <a:solidFill>
                      <a:srgbClr val="24323E"/>
                    </a:solidFill>
                  </a:tcPr>
                </a:tc>
                <a:extLst>
                  <a:ext uri="{0D108BD9-81ED-4DB2-BD59-A6C34878D82A}">
                    <a16:rowId xmlns:a16="http://schemas.microsoft.com/office/drawing/2014/main" val="10000"/>
                  </a:ext>
                </a:extLst>
              </a:tr>
              <a:tr h="704087">
                <a:tc>
                  <a:txBody>
                    <a:bodyPr/>
                    <a:lstStyle/>
                    <a:p>
                      <a:r>
                        <a:rPr sz="2000" b="0" i="0">
                          <a:solidFill>
                            <a:srgbClr val="24323E"/>
                          </a:solidFill>
                          <a:latin typeface="Times New Roman"/>
                          <a:ea typeface="Times New Roman"/>
                          <a:cs typeface="Times New Roman"/>
                        </a:rPr>
                        <a:t>Data cleaning</a:t>
                      </a:r>
                    </a:p>
                  </a:txBody>
                  <a:tcPr anchor="ctr">
                    <a:solidFill>
                      <a:srgbClr val="FFFFFF"/>
                    </a:solidFill>
                  </a:tcPr>
                </a:tc>
                <a:tc>
                  <a:txBody>
                    <a:bodyPr/>
                    <a:lstStyle/>
                    <a:p>
                      <a:r>
                        <a:rPr sz="2000" b="0" i="0">
                          <a:solidFill>
                            <a:srgbClr val="24323E"/>
                          </a:solidFill>
                          <a:latin typeface="Times New Roman"/>
                          <a:ea typeface="Times New Roman"/>
                          <a:cs typeface="Times New Roman"/>
                        </a:rPr>
                        <a:t>25%</a:t>
                      </a:r>
                    </a:p>
                  </a:txBody>
                  <a:tcPr anchor="ctr">
                    <a:solidFill>
                      <a:srgbClr val="FFFFFF"/>
                    </a:solidFill>
                  </a:tcPr>
                </a:tc>
                <a:tc>
                  <a:txBody>
                    <a:bodyPr/>
                    <a:lstStyle/>
                    <a:p>
                      <a:r>
                        <a:rPr sz="2000" b="0" i="0">
                          <a:solidFill>
                            <a:srgbClr val="24323E"/>
                          </a:solidFill>
                          <a:latin typeface="Times New Roman"/>
                          <a:ea typeface="Times New Roman"/>
                          <a:cs typeface="Times New Roman"/>
                        </a:rPr>
                        <a:t>A clear pipeline: duplicates, missing values, SKU consolidation, type fixes</a:t>
                      </a:r>
                    </a:p>
                  </a:txBody>
                  <a:tcPr anchor="ctr">
                    <a:solidFill>
                      <a:srgbClr val="FFFFFF"/>
                    </a:solidFill>
                  </a:tcPr>
                </a:tc>
                <a:extLst>
                  <a:ext uri="{0D108BD9-81ED-4DB2-BD59-A6C34878D82A}">
                    <a16:rowId xmlns:a16="http://schemas.microsoft.com/office/drawing/2014/main" val="10001"/>
                  </a:ext>
                </a:extLst>
              </a:tr>
              <a:tr h="603504">
                <a:tc>
                  <a:txBody>
                    <a:bodyPr/>
                    <a:lstStyle/>
                    <a:p>
                      <a:r>
                        <a:rPr sz="2000" b="0" i="0">
                          <a:solidFill>
                            <a:srgbClr val="24323E"/>
                          </a:solidFill>
                          <a:latin typeface="Times New Roman"/>
                          <a:ea typeface="Times New Roman"/>
                          <a:cs typeface="Times New Roman"/>
                        </a:rPr>
                        <a:t>Weather API</a:t>
                      </a:r>
                    </a:p>
                  </a:txBody>
                  <a:tcPr anchor="ctr">
                    <a:solidFill>
                      <a:srgbClr val="FFF4EB"/>
                    </a:solidFill>
                  </a:tcPr>
                </a:tc>
                <a:tc>
                  <a:txBody>
                    <a:bodyPr/>
                    <a:lstStyle/>
                    <a:p>
                      <a:r>
                        <a:rPr sz="2000" b="0" i="0">
                          <a:solidFill>
                            <a:srgbClr val="24323E"/>
                          </a:solidFill>
                          <a:latin typeface="Times New Roman"/>
                          <a:ea typeface="Times New Roman"/>
                          <a:cs typeface="Times New Roman"/>
                        </a:rPr>
                        <a:t>15%</a:t>
                      </a:r>
                    </a:p>
                  </a:txBody>
                  <a:tcPr anchor="ctr">
                    <a:solidFill>
                      <a:srgbClr val="FFF4EB"/>
                    </a:solidFill>
                  </a:tcPr>
                </a:tc>
                <a:tc>
                  <a:txBody>
                    <a:bodyPr/>
                    <a:lstStyle/>
                    <a:p>
                      <a:r>
                        <a:rPr sz="2000" b="0" i="0">
                          <a:solidFill>
                            <a:srgbClr val="24323E"/>
                          </a:solidFill>
                          <a:latin typeface="Times New Roman"/>
                          <a:ea typeface="Times New Roman"/>
                          <a:cs typeface="Times New Roman"/>
                        </a:rPr>
                        <a:t>A working call, timezones handled, and a join you checked</a:t>
                      </a:r>
                    </a:p>
                  </a:txBody>
                  <a:tcPr anchor="ctr">
                    <a:solidFill>
                      <a:srgbClr val="FFF4EB"/>
                    </a:solidFill>
                  </a:tcPr>
                </a:tc>
                <a:extLst>
                  <a:ext uri="{0D108BD9-81ED-4DB2-BD59-A6C34878D82A}">
                    <a16:rowId xmlns:a16="http://schemas.microsoft.com/office/drawing/2014/main" val="10002"/>
                  </a:ext>
                </a:extLst>
              </a:tr>
              <a:tr h="603504">
                <a:tc>
                  <a:txBody>
                    <a:bodyPr/>
                    <a:lstStyle/>
                    <a:p>
                      <a:r>
                        <a:rPr sz="2000" b="0" i="0">
                          <a:solidFill>
                            <a:srgbClr val="24323E"/>
                          </a:solidFill>
                          <a:latin typeface="Times New Roman"/>
                          <a:ea typeface="Times New Roman"/>
                          <a:cs typeface="Times New Roman"/>
                        </a:rPr>
                        <a:t>The five questions</a:t>
                      </a:r>
                    </a:p>
                  </a:txBody>
                  <a:tcPr anchor="ctr">
                    <a:solidFill>
                      <a:srgbClr val="FFFFFF"/>
                    </a:solidFill>
                  </a:tcPr>
                </a:tc>
                <a:tc>
                  <a:txBody>
                    <a:bodyPr/>
                    <a:lstStyle/>
                    <a:p>
                      <a:r>
                        <a:rPr sz="2000" b="0" i="0">
                          <a:solidFill>
                            <a:srgbClr val="24323E"/>
                          </a:solidFill>
                          <a:latin typeface="Times New Roman"/>
                          <a:ea typeface="Times New Roman"/>
                          <a:cs typeface="Times New Roman"/>
                        </a:rPr>
                        <a:t>30%</a:t>
                      </a:r>
                    </a:p>
                  </a:txBody>
                  <a:tcPr anchor="ctr">
                    <a:solidFill>
                      <a:srgbClr val="FFFFFF"/>
                    </a:solidFill>
                  </a:tcPr>
                </a:tc>
                <a:tc>
                  <a:txBody>
                    <a:bodyPr/>
                    <a:lstStyle/>
                    <a:p>
                      <a:r>
                        <a:rPr sz="2000" b="0" i="0">
                          <a:solidFill>
                            <a:srgbClr val="24323E"/>
                          </a:solidFill>
                          <a:latin typeface="Times New Roman"/>
                          <a:ea typeface="Times New Roman"/>
                          <a:cs typeface="Times New Roman"/>
                        </a:rPr>
                        <a:t>Code, a visualization, and a written explanation for each one</a:t>
                      </a:r>
                    </a:p>
                  </a:txBody>
                  <a:tcPr anchor="ctr">
                    <a:solidFill>
                      <a:srgbClr val="FFFFFF"/>
                    </a:solidFill>
                  </a:tcPr>
                </a:tc>
                <a:extLst>
                  <a:ext uri="{0D108BD9-81ED-4DB2-BD59-A6C34878D82A}">
                    <a16:rowId xmlns:a16="http://schemas.microsoft.com/office/drawing/2014/main" val="10003"/>
                  </a:ext>
                </a:extLst>
              </a:tr>
              <a:tr h="603504">
                <a:tc>
                  <a:txBody>
                    <a:bodyPr/>
                    <a:lstStyle/>
                    <a:p>
                      <a:r>
                        <a:rPr sz="2000" b="0" i="0">
                          <a:solidFill>
                            <a:srgbClr val="24323E"/>
                          </a:solidFill>
                          <a:latin typeface="Times New Roman"/>
                          <a:ea typeface="Times New Roman"/>
                          <a:cs typeface="Times New Roman"/>
                        </a:rPr>
                        <a:t>Visualizations</a:t>
                      </a:r>
                    </a:p>
                  </a:txBody>
                  <a:tcPr anchor="ctr">
                    <a:solidFill>
                      <a:srgbClr val="FFF4EB"/>
                    </a:solidFill>
                  </a:tcPr>
                </a:tc>
                <a:tc>
                  <a:txBody>
                    <a:bodyPr/>
                    <a:lstStyle/>
                    <a:p>
                      <a:r>
                        <a:rPr sz="2000" b="0" i="0">
                          <a:solidFill>
                            <a:srgbClr val="24323E"/>
                          </a:solidFill>
                          <a:latin typeface="Times New Roman"/>
                          <a:ea typeface="Times New Roman"/>
                          <a:cs typeface="Times New Roman"/>
                        </a:rPr>
                        <a:t>15%</a:t>
                      </a:r>
                    </a:p>
                  </a:txBody>
                  <a:tcPr anchor="ctr">
                    <a:solidFill>
                      <a:srgbClr val="FFF4EB"/>
                    </a:solidFill>
                  </a:tcPr>
                </a:tc>
                <a:tc>
                  <a:txBody>
                    <a:bodyPr/>
                    <a:lstStyle/>
                    <a:p>
                      <a:r>
                        <a:rPr sz="2000" b="0" i="0">
                          <a:solidFill>
                            <a:srgbClr val="24323E"/>
                          </a:solidFill>
                          <a:latin typeface="Times New Roman"/>
                          <a:ea typeface="Times New Roman"/>
                          <a:cs typeface="Times New Roman"/>
                        </a:rPr>
                        <a:t>At least six plots with clear titles, labels, and legends</a:t>
                      </a:r>
                    </a:p>
                  </a:txBody>
                  <a:tcPr anchor="ctr">
                    <a:solidFill>
                      <a:srgbClr val="FFF4EB"/>
                    </a:solidFill>
                  </a:tcPr>
                </a:tc>
                <a:extLst>
                  <a:ext uri="{0D108BD9-81ED-4DB2-BD59-A6C34878D82A}">
                    <a16:rowId xmlns:a16="http://schemas.microsoft.com/office/drawing/2014/main" val="10004"/>
                  </a:ext>
                </a:extLst>
              </a:tr>
              <a:tr h="704087">
                <a:tc>
                  <a:txBody>
                    <a:bodyPr/>
                    <a:lstStyle/>
                    <a:p>
                      <a:r>
                        <a:rPr sz="2000" b="0" i="0">
                          <a:solidFill>
                            <a:srgbClr val="24323E"/>
                          </a:solidFill>
                          <a:latin typeface="Times New Roman"/>
                          <a:ea typeface="Times New Roman"/>
                          <a:cs typeface="Times New Roman"/>
                        </a:rPr>
                        <a:t>Reflection</a:t>
                      </a:r>
                    </a:p>
                  </a:txBody>
                  <a:tcPr anchor="ctr">
                    <a:solidFill>
                      <a:srgbClr val="FFFFFF"/>
                    </a:solidFill>
                  </a:tcPr>
                </a:tc>
                <a:tc>
                  <a:txBody>
                    <a:bodyPr/>
                    <a:lstStyle/>
                    <a:p>
                      <a:r>
                        <a:rPr sz="2000" b="0" i="0">
                          <a:solidFill>
                            <a:srgbClr val="24323E"/>
                          </a:solidFill>
                          <a:latin typeface="Times New Roman"/>
                          <a:ea typeface="Times New Roman"/>
                          <a:cs typeface="Times New Roman"/>
                        </a:rPr>
                        <a:t>15%</a:t>
                      </a:r>
                    </a:p>
                  </a:txBody>
                  <a:tcPr anchor="ctr">
                    <a:solidFill>
                      <a:srgbClr val="FFFFFF"/>
                    </a:solidFill>
                  </a:tcPr>
                </a:tc>
                <a:tc>
                  <a:txBody>
                    <a:bodyPr/>
                    <a:lstStyle/>
                    <a:p>
                      <a:r>
                        <a:rPr sz="2000" b="0" i="0">
                          <a:solidFill>
                            <a:srgbClr val="24323E"/>
                          </a:solidFill>
                          <a:latin typeface="Times New Roman"/>
                          <a:ea typeface="Times New Roman"/>
                          <a:cs typeface="Times New Roman"/>
                        </a:rPr>
                        <a:t>Five questions, one solid paragraph each, every member contributes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Cleaning and the weather join are 40% of the grade before you answer a single question.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The </a:t>
            </a:r>
            <a:r>
              <a:rPr sz="3788" b="0" i="0">
                <a:solidFill>
                  <a:srgbClr val="F67132"/>
                </a:solidFill>
                <a:latin typeface="Times New Roman"/>
                <a:ea typeface="Times New Roman"/>
                <a:cs typeface="Times New Roman"/>
              </a:rPr>
              <a:t>data</a:t>
            </a:r>
            <a:r>
              <a:rPr sz="3788" b="0" i="0">
                <a:solidFill>
                  <a:srgbClr val="24323E"/>
                </a:solidFill>
                <a:latin typeface="Times New Roman"/>
                <a:ea typeface="Times New Roman"/>
                <a:cs typeface="Times New Roman"/>
              </a:rPr>
              <a:t> you're getting</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06</a:t>
            </a:r>
          </a:p>
        </p:txBody>
      </p:sp>
      <p:graphicFrame>
        <p:nvGraphicFramePr>
          <p:cNvPr id="4" name="Table 3"/>
          <p:cNvGraphicFramePr>
            <a:graphicFrameLocks noGrp="1"/>
          </p:cNvGraphicFramePr>
          <p:nvPr/>
        </p:nvGraphicFramePr>
        <p:xfrm>
          <a:off x="603504" y="1289304"/>
          <a:ext cx="10954512" cy="3904487"/>
        </p:xfrm>
        <a:graphic>
          <a:graphicData uri="http://schemas.openxmlformats.org/drawingml/2006/table">
            <a:tbl>
              <a:tblPr/>
              <a:tblGrid>
                <a:gridCol w="35661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2450592">
                  <a:extLst>
                    <a:ext uri="{9D8B030D-6E8A-4147-A177-3AD203B41FA5}">
                      <a16:colId xmlns:a16="http://schemas.microsoft.com/office/drawing/2014/main" val="20002"/>
                    </a:ext>
                  </a:extLst>
                </a:gridCol>
              </a:tblGrid>
              <a:tr h="640080">
                <a:tc>
                  <a:txBody>
                    <a:bodyPr/>
                    <a:lstStyle/>
                    <a:p>
                      <a:r>
                        <a:rPr sz="2000" b="1" i="0">
                          <a:solidFill>
                            <a:srgbClr val="FFFFFF"/>
                          </a:solidFill>
                          <a:latin typeface="Times New Roman"/>
                          <a:ea typeface="Times New Roman"/>
                          <a:cs typeface="Times New Roman"/>
                        </a:rPr>
                        <a:t>File</a:t>
                      </a:r>
                    </a:p>
                  </a:txBody>
                  <a:tcPr anchor="ctr">
                    <a:solidFill>
                      <a:srgbClr val="24323E"/>
                    </a:solidFill>
                  </a:tcPr>
                </a:tc>
                <a:tc>
                  <a:txBody>
                    <a:bodyPr/>
                    <a:lstStyle/>
                    <a:p>
                      <a:r>
                        <a:rPr sz="2000" b="1" i="0">
                          <a:solidFill>
                            <a:srgbClr val="FFFFFF"/>
                          </a:solidFill>
                          <a:latin typeface="Times New Roman"/>
                          <a:ea typeface="Times New Roman"/>
                          <a:cs typeface="Times New Roman"/>
                        </a:rPr>
                        <a:t>What it is</a:t>
                      </a:r>
                    </a:p>
                  </a:txBody>
                  <a:tcPr anchor="ctr">
                    <a:solidFill>
                      <a:srgbClr val="24323E"/>
                    </a:solidFill>
                  </a:tcPr>
                </a:tc>
                <a:tc>
                  <a:txBody>
                    <a:bodyPr/>
                    <a:lstStyle/>
                    <a:p>
                      <a:r>
                        <a:rPr sz="2000" b="1" i="0">
                          <a:solidFill>
                            <a:srgbClr val="FFFFFF"/>
                          </a:solidFill>
                          <a:latin typeface="Times New Roman"/>
                          <a:ea typeface="Times New Roman"/>
                          <a:cs typeface="Times New Roman"/>
                        </a:rPr>
                        <a:t>Size</a:t>
                      </a:r>
                    </a:p>
                  </a:txBody>
                  <a:tcPr anchor="ctr">
                    <a:solidFill>
                      <a:srgbClr val="24323E"/>
                    </a:solidFill>
                  </a:tcPr>
                </a:tc>
                <a:extLst>
                  <a:ext uri="{0D108BD9-81ED-4DB2-BD59-A6C34878D82A}">
                    <a16:rowId xmlns:a16="http://schemas.microsoft.com/office/drawing/2014/main" val="10000"/>
                  </a:ext>
                </a:extLst>
              </a:tr>
              <a:tr h="640080">
                <a:tc>
                  <a:txBody>
                    <a:bodyPr/>
                    <a:lstStyle/>
                    <a:p>
                      <a:r>
                        <a:rPr sz="1700" b="0" i="0">
                          <a:solidFill>
                            <a:srgbClr val="24323E"/>
                          </a:solidFill>
                          <a:latin typeface="Courier New"/>
                          <a:ea typeface="Courier New"/>
                          <a:cs typeface="Courier New"/>
                        </a:rPr>
                        <a:t>walmart_transactions.csv</a:t>
                      </a:r>
                    </a:p>
                  </a:txBody>
                  <a:tcPr anchor="ctr">
                    <a:solidFill>
                      <a:srgbClr val="FFFFFF"/>
                    </a:solidFill>
                  </a:tcPr>
                </a:tc>
                <a:tc>
                  <a:txBody>
                    <a:bodyPr/>
                    <a:lstStyle/>
                    <a:p>
                      <a:r>
                        <a:rPr sz="2000" b="0" i="0">
                          <a:solidFill>
                            <a:srgbClr val="24323E"/>
                          </a:solidFill>
                          <a:latin typeface="Times New Roman"/>
                          <a:ea typeface="Times New Roman"/>
                          <a:cs typeface="Times New Roman"/>
                        </a:rPr>
                        <a:t>Point-of-sale records, one row per item sold</a:t>
                      </a:r>
                    </a:p>
                  </a:txBody>
                  <a:tcPr anchor="ctr">
                    <a:solidFill>
                      <a:srgbClr val="FFFFFF"/>
                    </a:solidFill>
                  </a:tcPr>
                </a:tc>
                <a:tc>
                  <a:txBody>
                    <a:bodyPr/>
                    <a:lstStyle/>
                    <a:p>
                      <a:r>
                        <a:rPr sz="2000" b="0" i="0">
                          <a:solidFill>
                            <a:srgbClr val="24323E"/>
                          </a:solidFill>
                          <a:latin typeface="Times New Roman"/>
                          <a:ea typeface="Times New Roman"/>
                          <a:cs typeface="Times New Roman"/>
                        </a:rPr>
                        <a:t>25,562 rows</a:t>
                      </a:r>
                    </a:p>
                  </a:txBody>
                  <a:tcPr anchor="ctr">
                    <a:solidFill>
                      <a:srgbClr val="FFFFFF"/>
                    </a:solidFill>
                  </a:tcPr>
                </a:tc>
                <a:extLst>
                  <a:ext uri="{0D108BD9-81ED-4DB2-BD59-A6C34878D82A}">
                    <a16:rowId xmlns:a16="http://schemas.microsoft.com/office/drawing/2014/main" val="10001"/>
                  </a:ext>
                </a:extLst>
              </a:tr>
              <a:tr h="640080">
                <a:tc>
                  <a:txBody>
                    <a:bodyPr/>
                    <a:lstStyle/>
                    <a:p>
                      <a:r>
                        <a:rPr sz="1700" b="0" i="0">
                          <a:solidFill>
                            <a:srgbClr val="24323E"/>
                          </a:solidFill>
                          <a:latin typeface="Courier New"/>
                          <a:ea typeface="Courier New"/>
                          <a:cs typeface="Courier New"/>
                        </a:rPr>
                        <a:t>store_locations.csv</a:t>
                      </a:r>
                    </a:p>
                  </a:txBody>
                  <a:tcPr anchor="ctr">
                    <a:solidFill>
                      <a:srgbClr val="FFF4EB"/>
                    </a:solidFill>
                  </a:tcPr>
                </a:tc>
                <a:tc>
                  <a:txBody>
                    <a:bodyPr/>
                    <a:lstStyle/>
                    <a:p>
                      <a:r>
                        <a:rPr sz="2000" b="0" i="0">
                          <a:solidFill>
                            <a:srgbClr val="24323E"/>
                          </a:solidFill>
                          <a:latin typeface="Times New Roman"/>
                          <a:ea typeface="Times New Roman"/>
                          <a:cs typeface="Times New Roman"/>
                        </a:rPr>
                        <a:t>Store details: city, coordinates, region</a:t>
                      </a:r>
                    </a:p>
                  </a:txBody>
                  <a:tcPr anchor="ctr">
                    <a:solidFill>
                      <a:srgbClr val="FFF4EB"/>
                    </a:solidFill>
                  </a:tcPr>
                </a:tc>
                <a:tc>
                  <a:txBody>
                    <a:bodyPr/>
                    <a:lstStyle/>
                    <a:p>
                      <a:r>
                        <a:rPr sz="2000" b="0" i="0">
                          <a:solidFill>
                            <a:srgbClr val="24323E"/>
                          </a:solidFill>
                          <a:latin typeface="Times New Roman"/>
                          <a:ea typeface="Times New Roman"/>
                          <a:cs typeface="Times New Roman"/>
                        </a:rPr>
                        <a:t>14 rows</a:t>
                      </a:r>
                    </a:p>
                  </a:txBody>
                  <a:tcPr anchor="ctr">
                    <a:solidFill>
                      <a:srgbClr val="FFF4EB"/>
                    </a:solidFill>
                  </a:tcPr>
                </a:tc>
                <a:extLst>
                  <a:ext uri="{0D108BD9-81ED-4DB2-BD59-A6C34878D82A}">
                    <a16:rowId xmlns:a16="http://schemas.microsoft.com/office/drawing/2014/main" val="10002"/>
                  </a:ext>
                </a:extLst>
              </a:tr>
              <a:tr h="640080">
                <a:tc>
                  <a:txBody>
                    <a:bodyPr/>
                    <a:lstStyle/>
                    <a:p>
                      <a:r>
                        <a:rPr sz="1700" b="0" i="0">
                          <a:solidFill>
                            <a:srgbClr val="24323E"/>
                          </a:solidFill>
                          <a:latin typeface="Courier New"/>
                          <a:ea typeface="Courier New"/>
                          <a:cs typeface="Courier New"/>
                        </a:rPr>
                        <a:t>product_catalog.csv</a:t>
                      </a:r>
                    </a:p>
                  </a:txBody>
                  <a:tcPr anchor="ctr">
                    <a:solidFill>
                      <a:srgbClr val="FFFFFF"/>
                    </a:solidFill>
                  </a:tcPr>
                </a:tc>
                <a:tc>
                  <a:txBody>
                    <a:bodyPr/>
                    <a:lstStyle/>
                    <a:p>
                      <a:r>
                        <a:rPr sz="2000" b="0" i="0">
                          <a:solidFill>
                            <a:srgbClr val="24323E"/>
                          </a:solidFill>
                          <a:latin typeface="Times New Roman"/>
                          <a:ea typeface="Times New Roman"/>
                          <a:cs typeface="Times New Roman"/>
                        </a:rPr>
                        <a:t>The master list of products and SKUs</a:t>
                      </a:r>
                    </a:p>
                  </a:txBody>
                  <a:tcPr anchor="ctr">
                    <a:solidFill>
                      <a:srgbClr val="FFFFFF"/>
                    </a:solidFill>
                  </a:tcPr>
                </a:tc>
                <a:tc>
                  <a:txBody>
                    <a:bodyPr/>
                    <a:lstStyle/>
                    <a:p>
                      <a:r>
                        <a:rPr sz="2000" b="0" i="0">
                          <a:solidFill>
                            <a:srgbClr val="24323E"/>
                          </a:solidFill>
                          <a:latin typeface="Times New Roman"/>
                          <a:ea typeface="Times New Roman"/>
                          <a:cs typeface="Times New Roman"/>
                        </a:rPr>
                        <a:t>45 rows</a:t>
                      </a:r>
                    </a:p>
                  </a:txBody>
                  <a:tcPr anchor="ctr">
                    <a:solidFill>
                      <a:srgbClr val="FFFFFF"/>
                    </a:solidFill>
                  </a:tcPr>
                </a:tc>
                <a:extLst>
                  <a:ext uri="{0D108BD9-81ED-4DB2-BD59-A6C34878D82A}">
                    <a16:rowId xmlns:a16="http://schemas.microsoft.com/office/drawing/2014/main" val="10003"/>
                  </a:ext>
                </a:extLst>
              </a:tr>
              <a:tr h="640080">
                <a:tc>
                  <a:txBody>
                    <a:bodyPr/>
                    <a:lstStyle/>
                    <a:p>
                      <a:r>
                        <a:rPr sz="1700" b="0" i="0">
                          <a:solidFill>
                            <a:srgbClr val="24323E"/>
                          </a:solidFill>
                          <a:latin typeface="Courier New"/>
                          <a:ea typeface="Courier New"/>
                          <a:cs typeface="Courier New"/>
                        </a:rPr>
                        <a:t>distribution_centers.csv</a:t>
                      </a:r>
                    </a:p>
                  </a:txBody>
                  <a:tcPr anchor="ctr">
                    <a:solidFill>
                      <a:srgbClr val="FFF4EB"/>
                    </a:solidFill>
                  </a:tcPr>
                </a:tc>
                <a:tc>
                  <a:txBody>
                    <a:bodyPr/>
                    <a:lstStyle/>
                    <a:p>
                      <a:r>
                        <a:rPr sz="2000" b="0" i="0">
                          <a:solidFill>
                            <a:srgbClr val="24323E"/>
                          </a:solidFill>
                          <a:latin typeface="Times New Roman"/>
                          <a:ea typeface="Times New Roman"/>
                          <a:cs typeface="Times New Roman"/>
                        </a:rPr>
                        <a:t>Distribution center capacity and shipping cost</a:t>
                      </a:r>
                    </a:p>
                  </a:txBody>
                  <a:tcPr anchor="ctr">
                    <a:solidFill>
                      <a:srgbClr val="FFF4EB"/>
                    </a:solidFill>
                  </a:tcPr>
                </a:tc>
                <a:tc>
                  <a:txBody>
                    <a:bodyPr/>
                    <a:lstStyle/>
                    <a:p>
                      <a:r>
                        <a:rPr sz="2000" b="0" i="0">
                          <a:solidFill>
                            <a:srgbClr val="24323E"/>
                          </a:solidFill>
                          <a:latin typeface="Times New Roman"/>
                          <a:ea typeface="Times New Roman"/>
                          <a:cs typeface="Times New Roman"/>
                        </a:rPr>
                        <a:t>5 rows</a:t>
                      </a:r>
                    </a:p>
                  </a:txBody>
                  <a:tcPr anchor="ctr">
                    <a:solidFill>
                      <a:srgbClr val="FFF4EB"/>
                    </a:solidFill>
                  </a:tcPr>
                </a:tc>
                <a:extLst>
                  <a:ext uri="{0D108BD9-81ED-4DB2-BD59-A6C34878D82A}">
                    <a16:rowId xmlns:a16="http://schemas.microsoft.com/office/drawing/2014/main" val="10004"/>
                  </a:ext>
                </a:extLst>
              </a:tr>
              <a:tr h="704087">
                <a:tc>
                  <a:txBody>
                    <a:bodyPr/>
                    <a:lstStyle/>
                    <a:p>
                      <a:r>
                        <a:rPr sz="1700" b="0" i="0">
                          <a:solidFill>
                            <a:srgbClr val="24323E"/>
                          </a:solidFill>
                          <a:latin typeface="Courier New"/>
                          <a:ea typeface="Courier New"/>
                          <a:cs typeface="Courier New"/>
                        </a:rPr>
                        <a:t>inventory_and_sales.db</a:t>
                      </a:r>
                    </a:p>
                  </a:txBody>
                  <a:tcPr anchor="ctr">
                    <a:solidFill>
                      <a:srgbClr val="FFFFFF"/>
                    </a:solidFill>
                  </a:tcPr>
                </a:tc>
                <a:tc>
                  <a:txBody>
                    <a:bodyPr/>
                    <a:lstStyle/>
                    <a:p>
                      <a:r>
                        <a:rPr sz="2000" b="0" i="0">
                          <a:solidFill>
                            <a:srgbClr val="24323E"/>
                          </a:solidFill>
                          <a:latin typeface="Times New Roman"/>
                          <a:ea typeface="Times New Roman"/>
                          <a:cs typeface="Times New Roman"/>
                        </a:rPr>
                        <a:t>SQLite: daily_sales_summary and inventory_levels</a:t>
                      </a:r>
                    </a:p>
                  </a:txBody>
                  <a:tcPr anchor="ctr">
                    <a:solidFill>
                      <a:srgbClr val="FFFFFF"/>
                    </a:solidFill>
                  </a:tcPr>
                </a:tc>
                <a:tc>
                  <a:txBody>
                    <a:bodyPr/>
                    <a:lstStyle/>
                    <a:p>
                      <a:r>
                        <a:rPr sz="2000" b="0" i="0">
                          <a:solidFill>
                            <a:srgbClr val="24323E"/>
                          </a:solidFill>
                          <a:latin typeface="Times New Roman"/>
                          <a:ea typeface="Times New Roman"/>
                          <a:cs typeface="Times New Roman"/>
                        </a:rPr>
                        <a:t>3,600 + 4,320 rows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All five are in the data/ folder next to the notebook.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Every file has </a:t>
            </a:r>
            <a:r>
              <a:rPr sz="3788" b="0" i="0">
                <a:solidFill>
                  <a:srgbClr val="F67132"/>
                </a:solidFill>
                <a:latin typeface="Times New Roman"/>
                <a:ea typeface="Times New Roman"/>
                <a:cs typeface="Times New Roman"/>
              </a:rPr>
              <a:t>problems</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07</a:t>
            </a:r>
          </a:p>
        </p:txBody>
      </p:sp>
      <p:sp>
        <p:nvSpPr>
          <p:cNvPr id="4" name="TextBox 3"/>
          <p:cNvSpPr txBox="1"/>
          <p:nvPr/>
        </p:nvSpPr>
        <p:spPr>
          <a:xfrm>
            <a:off x="603504" y="1325880"/>
            <a:ext cx="5212080" cy="3931920"/>
          </a:xfrm>
          <a:prstGeom prst="rect">
            <a:avLst/>
          </a:prstGeom>
          <a:noFill/>
        </p:spPr>
        <p:txBody>
          <a:bodyPr wrap="square" lIns="0" tIns="0" rIns="0" bIns="0" anchor="t">
            <a:noAutofit/>
          </a:bodyPr>
          <a:lstStyle/>
          <a:p>
            <a:pPr algn="l">
              <a:lnSpc>
                <a:spcPct val="105000"/>
              </a:lnSpc>
              <a:spcAft>
                <a:spcPts val="1400"/>
              </a:spcAft>
            </a:pPr>
            <a:r>
              <a:rPr sz="2200" b="0" i="0">
                <a:solidFill>
                  <a:srgbClr val="24323E"/>
                </a:solidFill>
                <a:latin typeface="Times New Roman"/>
                <a:ea typeface="Times New Roman"/>
                <a:cs typeface="Times New Roman"/>
              </a:rPr>
              <a:t>Duplicate records</a:t>
            </a:r>
          </a:p>
          <a:p>
            <a:pPr algn="l">
              <a:lnSpc>
                <a:spcPct val="105000"/>
              </a:lnSpc>
              <a:spcAft>
                <a:spcPts val="1400"/>
              </a:spcAft>
            </a:pPr>
            <a:r>
              <a:rPr sz="2200" b="0" i="0">
                <a:solidFill>
                  <a:srgbClr val="24323E"/>
                </a:solidFill>
                <a:latin typeface="Times New Roman"/>
                <a:ea typeface="Times New Roman"/>
                <a:cs typeface="Times New Roman"/>
              </a:rPr>
              <a:t>Missing values written several ways: empty, NULL, N/A, NaN</a:t>
            </a:r>
          </a:p>
          <a:p>
            <a:pPr algn="l">
              <a:lnSpc>
                <a:spcPct val="105000"/>
              </a:lnSpc>
              <a:spcAft>
                <a:spcPts val="1400"/>
              </a:spcAft>
            </a:pPr>
            <a:r>
              <a:rPr sz="2200" b="0" i="0">
                <a:solidFill>
                  <a:srgbClr val="24323E"/>
                </a:solidFill>
                <a:latin typeface="Times New Roman"/>
                <a:ea typeface="Times New Roman"/>
                <a:cs typeface="Times New Roman"/>
              </a:rPr>
              <a:t>Dates and times in different formats</a:t>
            </a:r>
          </a:p>
          <a:p>
            <a:pPr algn="l">
              <a:lnSpc>
                <a:spcPct val="105000"/>
              </a:lnSpc>
              <a:spcAft>
                <a:spcPts val="1400"/>
              </a:spcAft>
            </a:pPr>
            <a:r>
              <a:rPr sz="2200" b="0" i="0">
                <a:solidFill>
                  <a:srgbClr val="24323E"/>
                </a:solidFill>
                <a:latin typeface="Times New Roman"/>
                <a:ea typeface="Times New Roman"/>
                <a:cs typeface="Times New Roman"/>
              </a:rPr>
              <a:t>The same product under several SKUs and names</a:t>
            </a:r>
          </a:p>
          <a:p>
            <a:pPr algn="l">
              <a:lnSpc>
                <a:spcPct val="105000"/>
              </a:lnSpc>
              <a:spcAft>
                <a:spcPts val="1400"/>
              </a:spcAft>
            </a:pPr>
            <a:r>
              <a:rPr sz="2200" b="0" i="0">
                <a:solidFill>
                  <a:srgbClr val="24323E"/>
                </a:solidFill>
                <a:latin typeface="Times New Roman"/>
                <a:ea typeface="Times New Roman"/>
                <a:cs typeface="Times New Roman"/>
              </a:rPr>
              <a:t>Inconsistent capitalization and spacing</a:t>
            </a:r>
          </a:p>
        </p:txBody>
      </p:sp>
      <p:sp>
        <p:nvSpPr>
          <p:cNvPr id="5" name="TextBox 4"/>
          <p:cNvSpPr txBox="1"/>
          <p:nvPr/>
        </p:nvSpPr>
        <p:spPr>
          <a:xfrm>
            <a:off x="6382512" y="1325880"/>
            <a:ext cx="5212080" cy="3931920"/>
          </a:xfrm>
          <a:prstGeom prst="rect">
            <a:avLst/>
          </a:prstGeom>
          <a:noFill/>
        </p:spPr>
        <p:txBody>
          <a:bodyPr wrap="square" lIns="0" tIns="0" rIns="0" bIns="0" anchor="t">
            <a:noAutofit/>
          </a:bodyPr>
          <a:lstStyle/>
          <a:p>
            <a:pPr algn="l">
              <a:lnSpc>
                <a:spcPct val="105000"/>
              </a:lnSpc>
              <a:spcAft>
                <a:spcPts val="1400"/>
              </a:spcAft>
            </a:pPr>
            <a:r>
              <a:rPr sz="2200" b="0" i="0">
                <a:solidFill>
                  <a:srgbClr val="24323E"/>
                </a:solidFill>
                <a:latin typeface="Times New Roman"/>
                <a:ea typeface="Times New Roman"/>
                <a:cs typeface="Times New Roman"/>
              </a:rPr>
              <a:t>Category names that don't match</a:t>
            </a:r>
          </a:p>
          <a:p>
            <a:pPr algn="l">
              <a:lnSpc>
                <a:spcPct val="105000"/>
              </a:lnSpc>
              <a:spcAft>
                <a:spcPts val="1400"/>
              </a:spcAft>
            </a:pPr>
            <a:r>
              <a:rPr sz="2200" b="0" i="0">
                <a:solidFill>
                  <a:srgbClr val="24323E"/>
                </a:solidFill>
                <a:latin typeface="Times New Roman"/>
                <a:ea typeface="Times New Roman"/>
                <a:cs typeface="Times New Roman"/>
              </a:rPr>
              <a:t>Numbers stored as text, prices with $ signs</a:t>
            </a:r>
          </a:p>
          <a:p>
            <a:pPr algn="l">
              <a:lnSpc>
                <a:spcPct val="105000"/>
              </a:lnSpc>
              <a:spcAft>
                <a:spcPts val="1400"/>
              </a:spcAft>
            </a:pPr>
            <a:r>
              <a:rPr sz="2200" b="0" i="0">
                <a:solidFill>
                  <a:srgbClr val="24323E"/>
                </a:solidFill>
                <a:latin typeface="Times New Roman"/>
                <a:ea typeface="Times New Roman"/>
                <a:cs typeface="Times New Roman"/>
              </a:rPr>
              <a:t>Negative quantities</a:t>
            </a:r>
          </a:p>
          <a:p>
            <a:pPr algn="l">
              <a:lnSpc>
                <a:spcPct val="105000"/>
              </a:lnSpc>
              <a:spcAft>
                <a:spcPts val="1400"/>
              </a:spcAft>
            </a:pPr>
            <a:r>
              <a:rPr sz="2200" b="0" i="0">
                <a:solidFill>
                  <a:srgbClr val="24323E"/>
                </a:solidFill>
                <a:latin typeface="Times New Roman"/>
                <a:ea typeface="Times New Roman"/>
                <a:cs typeface="Times New Roman"/>
              </a:rPr>
              <a:t>Store ids written different ways across files</a:t>
            </a:r>
          </a:p>
          <a:p>
            <a:pPr algn="l">
              <a:lnSpc>
                <a:spcPct val="105000"/>
              </a:lnSpc>
              <a:spcAft>
                <a:spcPts val="1400"/>
              </a:spcAft>
            </a:pPr>
            <a:r>
              <a:rPr sz="2200" b="0" i="0">
                <a:solidFill>
                  <a:srgbClr val="24323E"/>
                </a:solidFill>
                <a:latin typeface="Times New Roman"/>
                <a:ea typeface="Times New Roman"/>
                <a:cs typeface="Times New Roman"/>
              </a:rPr>
              <a:t>Weather data in a different timezone than sales</a:t>
            </a:r>
          </a:p>
        </p:txBody>
      </p:sp>
      <p:sp>
        <p:nvSpPr>
          <p:cNvPr id="6" name="TextBox 5"/>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Finding them is part of the work. Write down every decision.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The </a:t>
            </a:r>
            <a:r>
              <a:rPr sz="3788" b="0" i="0">
                <a:solidFill>
                  <a:srgbClr val="F67132"/>
                </a:solidFill>
                <a:latin typeface="Times New Roman"/>
                <a:ea typeface="Times New Roman"/>
                <a:cs typeface="Times New Roman"/>
              </a:rPr>
              <a:t>five questions</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08</a:t>
            </a:r>
          </a:p>
        </p:txBody>
      </p:sp>
      <p:graphicFrame>
        <p:nvGraphicFramePr>
          <p:cNvPr id="4" name="Table 3"/>
          <p:cNvGraphicFramePr>
            <a:graphicFrameLocks noGrp="1"/>
          </p:cNvGraphicFramePr>
          <p:nvPr/>
        </p:nvGraphicFramePr>
        <p:xfrm>
          <a:off x="603504" y="1234440"/>
          <a:ext cx="10954512" cy="3593592"/>
        </p:xfrm>
        <a:graphic>
          <a:graphicData uri="http://schemas.openxmlformats.org/drawingml/2006/table">
            <a:tbl>
              <a:tblPr/>
              <a:tblGrid>
                <a:gridCol w="25146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tblGrid>
              <a:tr h="566928">
                <a:tc>
                  <a:txBody>
                    <a:bodyPr/>
                    <a:lstStyle/>
                    <a:p>
                      <a:r>
                        <a:rPr sz="1700" b="1" i="0">
                          <a:solidFill>
                            <a:srgbClr val="FFFFFF"/>
                          </a:solidFill>
                          <a:latin typeface="Times New Roman"/>
                          <a:ea typeface="Times New Roman"/>
                          <a:cs typeface="Times New Roman"/>
                        </a:rPr>
                        <a:t>Question</a:t>
                      </a:r>
                    </a:p>
                  </a:txBody>
                  <a:tcPr anchor="ctr">
                    <a:solidFill>
                      <a:srgbClr val="24323E"/>
                    </a:solidFill>
                  </a:tcPr>
                </a:tc>
                <a:tc>
                  <a:txBody>
                    <a:bodyPr/>
                    <a:lstStyle/>
                    <a:p>
                      <a:r>
                        <a:rPr sz="1700" b="1" i="0">
                          <a:solidFill>
                            <a:srgbClr val="FFFFFF"/>
                          </a:solidFill>
                          <a:latin typeface="Times New Roman"/>
                          <a:ea typeface="Times New Roman"/>
                          <a:cs typeface="Times New Roman"/>
                        </a:rPr>
                        <a:t>What it needs</a:t>
                      </a:r>
                    </a:p>
                  </a:txBody>
                  <a:tcPr anchor="ctr">
                    <a:solidFill>
                      <a:srgbClr val="24323E"/>
                    </a:solidFill>
                  </a:tcPr>
                </a:tc>
                <a:tc>
                  <a:txBody>
                    <a:bodyPr/>
                    <a:lstStyle/>
                    <a:p>
                      <a:r>
                        <a:rPr sz="1700" b="1" i="0">
                          <a:solidFill>
                            <a:srgbClr val="FFFFFF"/>
                          </a:solidFill>
                          <a:latin typeface="Times New Roman"/>
                          <a:ea typeface="Times New Roman"/>
                          <a:cs typeface="Times New Roman"/>
                        </a:rPr>
                        <a:t>What it waits on</a:t>
                      </a:r>
                    </a:p>
                  </a:txBody>
                  <a:tcPr anchor="ctr">
                    <a:solidFill>
                      <a:srgbClr val="24323E"/>
                    </a:solidFill>
                  </a:tcPr>
                </a:tc>
                <a:extLst>
                  <a:ext uri="{0D108BD9-81ED-4DB2-BD59-A6C34878D82A}">
                    <a16:rowId xmlns:a16="http://schemas.microsoft.com/office/drawing/2014/main" val="10000"/>
                  </a:ext>
                </a:extLst>
              </a:tr>
              <a:tr h="614934">
                <a:tc>
                  <a:txBody>
                    <a:bodyPr/>
                    <a:lstStyle/>
                    <a:p>
                      <a:r>
                        <a:rPr sz="1700" b="1" i="0">
                          <a:solidFill>
                            <a:srgbClr val="24323E"/>
                          </a:solidFill>
                          <a:latin typeface="Times New Roman"/>
                          <a:ea typeface="Times New Roman"/>
                          <a:cs typeface="Times New Roman"/>
                        </a:rPr>
                        <a:t>Q1  Demand surge</a:t>
                      </a:r>
                    </a:p>
                  </a:txBody>
                  <a:tcPr anchor="ctr">
                    <a:solidFill>
                      <a:srgbClr val="FFFFFF"/>
                    </a:solidFill>
                  </a:tcPr>
                </a:tc>
                <a:tc>
                  <a:txBody>
                    <a:bodyPr/>
                    <a:lstStyle/>
                    <a:p>
                      <a:r>
                        <a:rPr sz="1700" b="0" i="0">
                          <a:solidFill>
                            <a:srgbClr val="24323E"/>
                          </a:solidFill>
                          <a:latin typeface="Times New Roman"/>
                          <a:ea typeface="Times New Roman"/>
                          <a:cs typeface="Times New Roman"/>
                        </a:rPr>
                        <a:t>Clean timestamps and categories, a baseline window you can defend, a chart of the top 5 categories</a:t>
                      </a:r>
                    </a:p>
                  </a:txBody>
                  <a:tcPr anchor="ctr">
                    <a:solidFill>
                      <a:srgbClr val="FFFFFF"/>
                    </a:solidFill>
                  </a:tcPr>
                </a:tc>
                <a:tc>
                  <a:txBody>
                    <a:bodyPr/>
                    <a:lstStyle/>
                    <a:p>
                      <a:r>
                        <a:rPr sz="1700" b="0" i="0">
                          <a:solidFill>
                            <a:srgbClr val="24323E"/>
                          </a:solidFill>
                          <a:latin typeface="Times New Roman"/>
                          <a:ea typeface="Times New Roman"/>
                          <a:cs typeface="Times New Roman"/>
                        </a:rPr>
                        <a:t>Date cleaning</a:t>
                      </a:r>
                    </a:p>
                  </a:txBody>
                  <a:tcPr anchor="ctr">
                    <a:solidFill>
                      <a:srgbClr val="FFFFFF"/>
                    </a:solidFill>
                  </a:tcPr>
                </a:tc>
                <a:extLst>
                  <a:ext uri="{0D108BD9-81ED-4DB2-BD59-A6C34878D82A}">
                    <a16:rowId xmlns:a16="http://schemas.microsoft.com/office/drawing/2014/main" val="10001"/>
                  </a:ext>
                </a:extLst>
              </a:tr>
              <a:tr h="566928">
                <a:tc>
                  <a:txBody>
                    <a:bodyPr/>
                    <a:lstStyle/>
                    <a:p>
                      <a:r>
                        <a:rPr sz="1700" b="1" i="0">
                          <a:solidFill>
                            <a:srgbClr val="24323E"/>
                          </a:solidFill>
                          <a:latin typeface="Times New Roman"/>
                          <a:ea typeface="Times New Roman"/>
                          <a:cs typeface="Times New Roman"/>
                        </a:rPr>
                        <a:t>Q2  SKU consolidation</a:t>
                      </a:r>
                    </a:p>
                  </a:txBody>
                  <a:tcPr anchor="ctr">
                    <a:solidFill>
                      <a:srgbClr val="FFF4EB"/>
                    </a:solidFill>
                  </a:tcPr>
                </a:tc>
                <a:tc>
                  <a:txBody>
                    <a:bodyPr/>
                    <a:lstStyle/>
                    <a:p>
                      <a:r>
                        <a:rPr sz="1700" b="0" i="0">
                          <a:solidFill>
                            <a:srgbClr val="24323E"/>
                          </a:solidFill>
                          <a:latin typeface="Times New Roman"/>
                          <a:ea typeface="Times New Roman"/>
                          <a:cs typeface="Times New Roman"/>
                        </a:rPr>
                        <a:t>A SKU mapping table and a before-and-after comparison</a:t>
                      </a:r>
                    </a:p>
                  </a:txBody>
                  <a:tcPr anchor="ctr">
                    <a:solidFill>
                      <a:srgbClr val="FFF4EB"/>
                    </a:solidFill>
                  </a:tcPr>
                </a:tc>
                <a:tc>
                  <a:txBody>
                    <a:bodyPr/>
                    <a:lstStyle/>
                    <a:p>
                      <a:r>
                        <a:rPr sz="1700" b="0" i="0">
                          <a:solidFill>
                            <a:srgbClr val="24323E"/>
                          </a:solidFill>
                          <a:latin typeface="Times New Roman"/>
                          <a:ea typeface="Times New Roman"/>
                          <a:cs typeface="Times New Roman"/>
                        </a:rPr>
                        <a:t>The mapping table</a:t>
                      </a:r>
                    </a:p>
                  </a:txBody>
                  <a:tcPr anchor="ctr">
                    <a:solidFill>
                      <a:srgbClr val="FFF4EB"/>
                    </a:solidFill>
                  </a:tcPr>
                </a:tc>
                <a:extLst>
                  <a:ext uri="{0D108BD9-81ED-4DB2-BD59-A6C34878D82A}">
                    <a16:rowId xmlns:a16="http://schemas.microsoft.com/office/drawing/2014/main" val="10002"/>
                  </a:ext>
                </a:extLst>
              </a:tr>
              <a:tr h="614934">
                <a:tc>
                  <a:txBody>
                    <a:bodyPr/>
                    <a:lstStyle/>
                    <a:p>
                      <a:r>
                        <a:rPr sz="1700" b="1" i="0">
                          <a:solidFill>
                            <a:srgbClr val="24323E"/>
                          </a:solidFill>
                          <a:latin typeface="Times New Roman"/>
                          <a:ea typeface="Times New Roman"/>
                          <a:cs typeface="Times New Roman"/>
                        </a:rPr>
                        <a:t>Q3  Weather correlation</a:t>
                      </a:r>
                    </a:p>
                  </a:txBody>
                  <a:tcPr anchor="ctr">
                    <a:solidFill>
                      <a:srgbClr val="FFFFFF"/>
                    </a:solidFill>
                  </a:tcPr>
                </a:tc>
                <a:tc>
                  <a:txBody>
                    <a:bodyPr/>
                    <a:lstStyle/>
                    <a:p>
                      <a:r>
                        <a:rPr sz="1700" b="0" i="0">
                          <a:solidFill>
                            <a:srgbClr val="24323E"/>
                          </a:solidFill>
                          <a:latin typeface="Times New Roman"/>
                          <a:ea typeface="Times New Roman"/>
                          <a:cs typeface="Times New Roman"/>
                        </a:rPr>
                        <a:t>The API call, timezone alignment, a checked join, then correlation and lag</a:t>
                      </a:r>
                    </a:p>
                  </a:txBody>
                  <a:tcPr anchor="ctr">
                    <a:solidFill>
                      <a:srgbClr val="FFFFFF"/>
                    </a:solidFill>
                  </a:tcPr>
                </a:tc>
                <a:tc>
                  <a:txBody>
                    <a:bodyPr/>
                    <a:lstStyle/>
                    <a:p>
                      <a:r>
                        <a:rPr sz="1700" b="0" i="0">
                          <a:solidFill>
                            <a:srgbClr val="24323E"/>
                          </a:solidFill>
                          <a:latin typeface="Times New Roman"/>
                          <a:ea typeface="Times New Roman"/>
                          <a:cs typeface="Times New Roman"/>
                        </a:rPr>
                        <a:t>The weather API working</a:t>
                      </a:r>
                    </a:p>
                  </a:txBody>
                  <a:tcPr anchor="ctr">
                    <a:solidFill>
                      <a:srgbClr val="FFFFFF"/>
                    </a:solidFill>
                  </a:tcPr>
                </a:tc>
                <a:extLst>
                  <a:ext uri="{0D108BD9-81ED-4DB2-BD59-A6C34878D82A}">
                    <a16:rowId xmlns:a16="http://schemas.microsoft.com/office/drawing/2014/main" val="10003"/>
                  </a:ext>
                </a:extLst>
              </a:tr>
              <a:tr h="614934">
                <a:tc>
                  <a:txBody>
                    <a:bodyPr/>
                    <a:lstStyle/>
                    <a:p>
                      <a:r>
                        <a:rPr sz="1700" b="1" i="0">
                          <a:solidFill>
                            <a:srgbClr val="24323E"/>
                          </a:solidFill>
                          <a:latin typeface="Times New Roman"/>
                          <a:ea typeface="Times New Roman"/>
                          <a:cs typeface="Times New Roman"/>
                        </a:rPr>
                        <a:t>Q4  Stores and geography</a:t>
                      </a:r>
                    </a:p>
                  </a:txBody>
                  <a:tcPr anchor="ctr">
                    <a:solidFill>
                      <a:srgbClr val="FFF4EB"/>
                    </a:solidFill>
                  </a:tcPr>
                </a:tc>
                <a:tc>
                  <a:txBody>
                    <a:bodyPr/>
                    <a:lstStyle/>
                    <a:p>
                      <a:r>
                        <a:rPr sz="1700" b="0" i="0">
                          <a:solidFill>
                            <a:srgbClr val="24323E"/>
                          </a:solidFill>
                          <a:latin typeface="Times New Roman"/>
                          <a:ea typeface="Times New Roman"/>
                          <a:cs typeface="Times New Roman"/>
                        </a:rPr>
                        <a:t>Store ids cleaned so the store file joins, then a comparison across stores</a:t>
                      </a:r>
                    </a:p>
                  </a:txBody>
                  <a:tcPr anchor="ctr">
                    <a:solidFill>
                      <a:srgbClr val="FFF4EB"/>
                    </a:solidFill>
                  </a:tcPr>
                </a:tc>
                <a:tc>
                  <a:txBody>
                    <a:bodyPr/>
                    <a:lstStyle/>
                    <a:p>
                      <a:r>
                        <a:rPr sz="1700" b="0" i="0">
                          <a:solidFill>
                            <a:srgbClr val="24323E"/>
                          </a:solidFill>
                          <a:latin typeface="Times New Roman"/>
                          <a:ea typeface="Times New Roman"/>
                          <a:cs typeface="Times New Roman"/>
                        </a:rPr>
                        <a:t>Store id cleaning</a:t>
                      </a:r>
                    </a:p>
                  </a:txBody>
                  <a:tcPr anchor="ctr">
                    <a:solidFill>
                      <a:srgbClr val="FFF4EB"/>
                    </a:solidFill>
                  </a:tcPr>
                </a:tc>
                <a:extLst>
                  <a:ext uri="{0D108BD9-81ED-4DB2-BD59-A6C34878D82A}">
                    <a16:rowId xmlns:a16="http://schemas.microsoft.com/office/drawing/2014/main" val="10004"/>
                  </a:ext>
                </a:extLst>
              </a:tr>
              <a:tr h="614934">
                <a:tc>
                  <a:txBody>
                    <a:bodyPr/>
                    <a:lstStyle/>
                    <a:p>
                      <a:r>
                        <a:rPr sz="1700" b="1" i="0">
                          <a:solidFill>
                            <a:srgbClr val="24323E"/>
                          </a:solidFill>
                          <a:latin typeface="Times New Roman"/>
                          <a:ea typeface="Times New Roman"/>
                          <a:cs typeface="Times New Roman"/>
                        </a:rPr>
                        <a:t>Q5  Signal or artifact</a:t>
                      </a:r>
                    </a:p>
                  </a:txBody>
                  <a:tcPr anchor="ctr">
                    <a:solidFill>
                      <a:srgbClr val="FFFFFF"/>
                    </a:solidFill>
                  </a:tcPr>
                </a:tc>
                <a:tc>
                  <a:txBody>
                    <a:bodyPr/>
                    <a:lstStyle/>
                    <a:p>
                      <a:r>
                        <a:rPr sz="1700" b="0" i="0">
                          <a:solidFill>
                            <a:srgbClr val="24323E"/>
                          </a:solidFill>
                          <a:latin typeface="Times New Roman"/>
                          <a:ea typeface="Times New Roman"/>
                          <a:cs typeface="Times New Roman"/>
                        </a:rPr>
                        <a:t>SQL on the inventory database, a cross-check against the transactions, a recommendation</a:t>
                      </a:r>
                    </a:p>
                  </a:txBody>
                  <a:tcPr anchor="ctr">
                    <a:solidFill>
                      <a:srgbClr val="FFFFFF"/>
                    </a:solidFill>
                  </a:tcPr>
                </a:tc>
                <a:tc>
                  <a:txBody>
                    <a:bodyPr/>
                    <a:lstStyle/>
                    <a:p>
                      <a:r>
                        <a:rPr sz="1700" b="0" i="0">
                          <a:solidFill>
                            <a:srgbClr val="24323E"/>
                          </a:solidFill>
                          <a:latin typeface="Times New Roman"/>
                          <a:ea typeface="Times New Roman"/>
                          <a:cs typeface="Times New Roman"/>
                        </a:rPr>
                        <a:t>SKU and category cleanup</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03504" y="553212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Date cleaning and the weather API are what everyone else waits on. Start them first.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Three weeks </a:t>
            </a:r>
            <a:r>
              <a:rPr sz="3788" b="0" i="0">
                <a:solidFill>
                  <a:srgbClr val="F67132"/>
                </a:solidFill>
                <a:latin typeface="Times New Roman"/>
                <a:ea typeface="Times New Roman"/>
                <a:cs typeface="Times New Roman"/>
              </a:rPr>
              <a:t>at a glance</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09</a:t>
            </a:r>
          </a:p>
        </p:txBody>
      </p:sp>
      <p:graphicFrame>
        <p:nvGraphicFramePr>
          <p:cNvPr id="4" name="Table 3"/>
          <p:cNvGraphicFramePr>
            <a:graphicFrameLocks noGrp="1"/>
          </p:cNvGraphicFramePr>
          <p:nvPr/>
        </p:nvGraphicFramePr>
        <p:xfrm>
          <a:off x="603504" y="1289304"/>
          <a:ext cx="10954512" cy="3474720"/>
        </p:xfrm>
        <a:graphic>
          <a:graphicData uri="http://schemas.openxmlformats.org/drawingml/2006/table">
            <a:tbl>
              <a:tblPr/>
              <a:tblGrid>
                <a:gridCol w="24688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364992">
                  <a:extLst>
                    <a:ext uri="{9D8B030D-6E8A-4147-A177-3AD203B41FA5}">
                      <a16:colId xmlns:a16="http://schemas.microsoft.com/office/drawing/2014/main" val="20002"/>
                    </a:ext>
                  </a:extLst>
                </a:gridCol>
              </a:tblGrid>
              <a:tr h="868680">
                <a:tc>
                  <a:txBody>
                    <a:bodyPr/>
                    <a:lstStyle/>
                    <a:p>
                      <a:r>
                        <a:rPr sz="2000" b="1" i="0">
                          <a:solidFill>
                            <a:srgbClr val="FFFFFF"/>
                          </a:solidFill>
                          <a:latin typeface="Times New Roman"/>
                          <a:ea typeface="Times New Roman"/>
                          <a:cs typeface="Times New Roman"/>
                        </a:rPr>
                        <a:t>When</a:t>
                      </a:r>
                    </a:p>
                  </a:txBody>
                  <a:tcPr anchor="ctr">
                    <a:solidFill>
                      <a:srgbClr val="24323E"/>
                    </a:solidFill>
                  </a:tcPr>
                </a:tc>
                <a:tc>
                  <a:txBody>
                    <a:bodyPr/>
                    <a:lstStyle/>
                    <a:p>
                      <a:r>
                        <a:rPr sz="2000" b="1" i="0">
                          <a:solidFill>
                            <a:srgbClr val="FFFFFF"/>
                          </a:solidFill>
                          <a:latin typeface="Times New Roman"/>
                          <a:ea typeface="Times New Roman"/>
                          <a:cs typeface="Times New Roman"/>
                        </a:rPr>
                        <a:t>Class</a:t>
                      </a:r>
                    </a:p>
                  </a:txBody>
                  <a:tcPr anchor="ctr">
                    <a:solidFill>
                      <a:srgbClr val="24323E"/>
                    </a:solidFill>
                  </a:tcPr>
                </a:tc>
                <a:tc>
                  <a:txBody>
                    <a:bodyPr/>
                    <a:lstStyle/>
                    <a:p>
                      <a:r>
                        <a:rPr sz="2000" b="1" i="0">
                          <a:solidFill>
                            <a:srgbClr val="FFFFFF"/>
                          </a:solidFill>
                          <a:latin typeface="Times New Roman"/>
                          <a:ea typeface="Times New Roman"/>
                          <a:cs typeface="Times New Roman"/>
                        </a:rPr>
                        <a:t>Due</a:t>
                      </a:r>
                    </a:p>
                  </a:txBody>
                  <a:tcPr anchor="ctr">
                    <a:solidFill>
                      <a:srgbClr val="24323E"/>
                    </a:solidFill>
                  </a:tcPr>
                </a:tc>
                <a:extLst>
                  <a:ext uri="{0D108BD9-81ED-4DB2-BD59-A6C34878D82A}">
                    <a16:rowId xmlns:a16="http://schemas.microsoft.com/office/drawing/2014/main" val="10000"/>
                  </a:ext>
                </a:extLst>
              </a:tr>
              <a:tr h="868680">
                <a:tc>
                  <a:txBody>
                    <a:bodyPr/>
                    <a:lstStyle/>
                    <a:p>
                      <a:r>
                        <a:rPr sz="2000" b="1" i="0">
                          <a:solidFill>
                            <a:srgbClr val="24323E"/>
                          </a:solidFill>
                          <a:latin typeface="Times New Roman"/>
                          <a:ea typeface="Times New Roman"/>
                          <a:cs typeface="Times New Roman"/>
                        </a:rPr>
                        <a:t>Week 1  Oct 19-23</a:t>
                      </a:r>
                    </a:p>
                  </a:txBody>
                  <a:tcPr anchor="ctr">
                    <a:solidFill>
                      <a:srgbClr val="FFFFFF"/>
                    </a:solidFill>
                  </a:tcPr>
                </a:tc>
                <a:tc>
                  <a:txBody>
                    <a:bodyPr/>
                    <a:lstStyle/>
                    <a:p>
                      <a:r>
                        <a:rPr sz="2000" b="0" i="0">
                          <a:solidFill>
                            <a:srgbClr val="24323E"/>
                          </a:solidFill>
                          <a:latin typeface="Times New Roman"/>
                          <a:ea typeface="Times New Roman"/>
                          <a:cs typeface="Times New Roman"/>
                        </a:rPr>
                        <a:t>Mon: kickoff (today). Wed: weather API and joins</a:t>
                      </a:r>
                    </a:p>
                  </a:txBody>
                  <a:tcPr anchor="ctr">
                    <a:solidFill>
                      <a:srgbClr val="FFFFFF"/>
                    </a:solidFill>
                  </a:tcPr>
                </a:tc>
                <a:tc>
                  <a:txBody>
                    <a:bodyPr/>
                    <a:lstStyle/>
                    <a:p>
                      <a:r>
                        <a:rPr sz="2000" b="0" i="0">
                          <a:solidFill>
                            <a:srgbClr val="24323E"/>
                          </a:solidFill>
                          <a:latin typeface="Times New Roman"/>
                          <a:ea typeface="Times New Roman"/>
                          <a:cs typeface="Times New Roman"/>
                        </a:rPr>
                        <a:t>Fri: Midterm Checkpoint (Lab 09)</a:t>
                      </a:r>
                    </a:p>
                  </a:txBody>
                  <a:tcPr anchor="ctr">
                    <a:solidFill>
                      <a:srgbClr val="FFFFFF"/>
                    </a:solidFill>
                  </a:tcPr>
                </a:tc>
                <a:extLst>
                  <a:ext uri="{0D108BD9-81ED-4DB2-BD59-A6C34878D82A}">
                    <a16:rowId xmlns:a16="http://schemas.microsoft.com/office/drawing/2014/main" val="10001"/>
                  </a:ext>
                </a:extLst>
              </a:tr>
              <a:tr h="868680">
                <a:tc>
                  <a:txBody>
                    <a:bodyPr/>
                    <a:lstStyle/>
                    <a:p>
                      <a:r>
                        <a:rPr sz="2000" b="1" i="0">
                          <a:solidFill>
                            <a:srgbClr val="24323E"/>
                          </a:solidFill>
                          <a:latin typeface="Times New Roman"/>
                          <a:ea typeface="Times New Roman"/>
                          <a:cs typeface="Times New Roman"/>
                        </a:rPr>
                        <a:t>Week 2  Oct 26-30</a:t>
                      </a:r>
                    </a:p>
                  </a:txBody>
                  <a:tcPr anchor="ctr">
                    <a:solidFill>
                      <a:srgbClr val="FFF4EB"/>
                    </a:solidFill>
                  </a:tcPr>
                </a:tc>
                <a:tc>
                  <a:txBody>
                    <a:bodyPr/>
                    <a:lstStyle/>
                    <a:p>
                      <a:r>
                        <a:rPr sz="2000" b="0" i="0">
                          <a:solidFill>
                            <a:srgbClr val="24323E"/>
                          </a:solidFill>
                          <a:latin typeface="Times New Roman"/>
                          <a:ea typeface="Times New Roman"/>
                          <a:cs typeface="Times New Roman"/>
                        </a:rPr>
                        <a:t>Mon: clinic on cleaning and joins. Wed: clinic on analysis and charts</a:t>
                      </a:r>
                    </a:p>
                  </a:txBody>
                  <a:tcPr anchor="ctr">
                    <a:solidFill>
                      <a:srgbClr val="FFF4EB"/>
                    </a:solidFill>
                  </a:tcPr>
                </a:tc>
                <a:tc>
                  <a:txBody>
                    <a:bodyPr/>
                    <a:lstStyle/>
                    <a:p>
                      <a:r>
                        <a:rPr sz="2000" b="0" i="0">
                          <a:solidFill>
                            <a:srgbClr val="24323E"/>
                          </a:solidFill>
                          <a:latin typeface="Times New Roman"/>
                          <a:ea typeface="Times New Roman"/>
                          <a:cs typeface="Times New Roman"/>
                        </a:rPr>
                        <a:t>Fri: Midterm Progress (Lab 10)</a:t>
                      </a:r>
                    </a:p>
                  </a:txBody>
                  <a:tcPr anchor="ctr">
                    <a:solidFill>
                      <a:srgbClr val="FFF4EB"/>
                    </a:solidFill>
                  </a:tcPr>
                </a:tc>
                <a:extLst>
                  <a:ext uri="{0D108BD9-81ED-4DB2-BD59-A6C34878D82A}">
                    <a16:rowId xmlns:a16="http://schemas.microsoft.com/office/drawing/2014/main" val="10002"/>
                  </a:ext>
                </a:extLst>
              </a:tr>
              <a:tr h="868680">
                <a:tc>
                  <a:txBody>
                    <a:bodyPr/>
                    <a:lstStyle/>
                    <a:p>
                      <a:r>
                        <a:rPr sz="2000" b="1" i="0">
                          <a:solidFill>
                            <a:srgbClr val="24323E"/>
                          </a:solidFill>
                          <a:latin typeface="Times New Roman"/>
                          <a:ea typeface="Times New Roman"/>
                          <a:cs typeface="Times New Roman"/>
                        </a:rPr>
                        <a:t>Week 3  Nov 2-6</a:t>
                      </a:r>
                    </a:p>
                  </a:txBody>
                  <a:tcPr anchor="ctr">
                    <a:solidFill>
                      <a:srgbClr val="FFFFFF"/>
                    </a:solidFill>
                  </a:tcPr>
                </a:tc>
                <a:tc>
                  <a:txBody>
                    <a:bodyPr/>
                    <a:lstStyle/>
                    <a:p>
                      <a:r>
                        <a:rPr sz="2000" b="0" i="0">
                          <a:solidFill>
                            <a:srgbClr val="24323E"/>
                          </a:solidFill>
                          <a:latin typeface="Times New Roman"/>
                          <a:ea typeface="Times New Roman"/>
                          <a:cs typeface="Times New Roman"/>
                        </a:rPr>
                        <a:t>Mon: presentations. Wed: reflection</a:t>
                      </a:r>
                    </a:p>
                  </a:txBody>
                  <a:tcPr anchor="ctr">
                    <a:solidFill>
                      <a:srgbClr val="FFFFFF"/>
                    </a:solidFill>
                  </a:tcPr>
                </a:tc>
                <a:tc>
                  <a:txBody>
                    <a:bodyPr/>
                    <a:lstStyle/>
                    <a:p>
                      <a:r>
                        <a:rPr sz="2000" b="0" i="0">
                          <a:solidFill>
                            <a:srgbClr val="24323E"/>
                          </a:solidFill>
                          <a:latin typeface="Times New Roman"/>
                          <a:ea typeface="Times New Roman"/>
                          <a:cs typeface="Times New Roman"/>
                        </a:rPr>
                        <a:t>Final deliverables: check Canvas for the due date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The checkpoint labs are how we find out early if a team is stuck. Honest reports beat optimistic ones.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In class and </a:t>
            </a:r>
            <a:r>
              <a:rPr sz="3788" b="0" i="0">
                <a:solidFill>
                  <a:srgbClr val="F67132"/>
                </a:solidFill>
                <a:latin typeface="Times New Roman"/>
                <a:ea typeface="Times New Roman"/>
                <a:cs typeface="Times New Roman"/>
              </a:rPr>
              <a:t>outside class</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10</a:t>
            </a:r>
          </a:p>
        </p:txBody>
      </p:sp>
      <p:graphicFrame>
        <p:nvGraphicFramePr>
          <p:cNvPr id="4" name="Table 3"/>
          <p:cNvGraphicFramePr>
            <a:graphicFrameLocks noGrp="1"/>
          </p:cNvGraphicFramePr>
          <p:nvPr/>
        </p:nvGraphicFramePr>
        <p:xfrm>
          <a:off x="603504" y="1289304"/>
          <a:ext cx="10954512" cy="3429000"/>
        </p:xfrm>
        <a:graphic>
          <a:graphicData uri="http://schemas.openxmlformats.org/drawingml/2006/table">
            <a:tbl>
              <a:tblPr/>
              <a:tblGrid>
                <a:gridCol w="15544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919472">
                  <a:extLst>
                    <a:ext uri="{9D8B030D-6E8A-4147-A177-3AD203B41FA5}">
                      <a16:colId xmlns:a16="http://schemas.microsoft.com/office/drawing/2014/main" val="20002"/>
                    </a:ext>
                  </a:extLst>
                </a:gridCol>
              </a:tblGrid>
              <a:tr h="822960">
                <a:tc>
                  <a:txBody>
                    <a:bodyPr/>
                    <a:lstStyle/>
                    <a:p>
                      <a:endParaRPr/>
                    </a:p>
                  </a:txBody>
                  <a:tcPr anchor="ctr">
                    <a:solidFill>
                      <a:srgbClr val="24323E"/>
                    </a:solidFill>
                  </a:tcPr>
                </a:tc>
                <a:tc>
                  <a:txBody>
                    <a:bodyPr/>
                    <a:lstStyle/>
                    <a:p>
                      <a:r>
                        <a:rPr sz="1900" b="1" i="0">
                          <a:solidFill>
                            <a:srgbClr val="FFFFFF"/>
                          </a:solidFill>
                          <a:latin typeface="Times New Roman"/>
                          <a:ea typeface="Times New Roman"/>
                          <a:cs typeface="Times New Roman"/>
                        </a:rPr>
                        <a:t>In class</a:t>
                      </a:r>
                    </a:p>
                  </a:txBody>
                  <a:tcPr anchor="ctr">
                    <a:solidFill>
                      <a:srgbClr val="24323E"/>
                    </a:solidFill>
                  </a:tcPr>
                </a:tc>
                <a:tc>
                  <a:txBody>
                    <a:bodyPr/>
                    <a:lstStyle/>
                    <a:p>
                      <a:r>
                        <a:rPr sz="1900" b="1" i="0">
                          <a:solidFill>
                            <a:srgbClr val="FFFFFF"/>
                          </a:solidFill>
                          <a:latin typeface="Times New Roman"/>
                          <a:ea typeface="Times New Roman"/>
                          <a:cs typeface="Times New Roman"/>
                        </a:rPr>
                        <a:t>Outside class</a:t>
                      </a:r>
                    </a:p>
                  </a:txBody>
                  <a:tcPr anchor="ctr">
                    <a:solidFill>
                      <a:srgbClr val="24323E"/>
                    </a:solidFill>
                  </a:tcPr>
                </a:tc>
                <a:extLst>
                  <a:ext uri="{0D108BD9-81ED-4DB2-BD59-A6C34878D82A}">
                    <a16:rowId xmlns:a16="http://schemas.microsoft.com/office/drawing/2014/main" val="10000"/>
                  </a:ext>
                </a:extLst>
              </a:tr>
              <a:tr h="956691">
                <a:tc>
                  <a:txBody>
                    <a:bodyPr/>
                    <a:lstStyle/>
                    <a:p>
                      <a:r>
                        <a:rPr sz="1900" b="1" i="0">
                          <a:solidFill>
                            <a:srgbClr val="24323E"/>
                          </a:solidFill>
                          <a:latin typeface="Times New Roman"/>
                          <a:ea typeface="Times New Roman"/>
                          <a:cs typeface="Times New Roman"/>
                        </a:rPr>
                        <a:t>Week 1</a:t>
                      </a:r>
                    </a:p>
                  </a:txBody>
                  <a:tcPr anchor="ctr">
                    <a:solidFill>
                      <a:srgbClr val="FFFFFF"/>
                    </a:solidFill>
                  </a:tcPr>
                </a:tc>
                <a:tc>
                  <a:txBody>
                    <a:bodyPr/>
                    <a:lstStyle/>
                    <a:p>
                      <a:r>
                        <a:rPr sz="1900" b="0" i="0">
                          <a:solidFill>
                            <a:srgbClr val="24323E"/>
                          </a:solidFill>
                          <a:latin typeface="Times New Roman"/>
                          <a:ea typeface="Times New Roman"/>
                          <a:cs typeface="Times New Roman"/>
                        </a:rPr>
                        <a:t>Form teams, profile the data, fill in the charter, create the repo. Wednesday: first weather API call</a:t>
                      </a:r>
                    </a:p>
                  </a:txBody>
                  <a:tcPr anchor="ctr">
                    <a:solidFill>
                      <a:srgbClr val="FFFFFF"/>
                    </a:solidFill>
                  </a:tcPr>
                </a:tc>
                <a:tc>
                  <a:txBody>
                    <a:bodyPr/>
                    <a:lstStyle/>
                    <a:p>
                      <a:r>
                        <a:rPr sz="1900" b="0" i="0">
                          <a:solidFill>
                            <a:srgbClr val="24323E"/>
                          </a:solidFill>
                          <a:latin typeface="Times New Roman"/>
                          <a:ea typeface="Times New Roman"/>
                          <a:cs typeface="Times New Roman"/>
                        </a:rPr>
                        <a:t>First draft of the cleaning pipeline, start the SKU mapping, finish the charter, first team meeting</a:t>
                      </a:r>
                    </a:p>
                  </a:txBody>
                  <a:tcPr anchor="ctr">
                    <a:solidFill>
                      <a:srgbClr val="FFFFFF"/>
                    </a:solidFill>
                  </a:tcPr>
                </a:tc>
                <a:extLst>
                  <a:ext uri="{0D108BD9-81ED-4DB2-BD59-A6C34878D82A}">
                    <a16:rowId xmlns:a16="http://schemas.microsoft.com/office/drawing/2014/main" val="10001"/>
                  </a:ext>
                </a:extLst>
              </a:tr>
              <a:tr h="822960">
                <a:tc>
                  <a:txBody>
                    <a:bodyPr/>
                    <a:lstStyle/>
                    <a:p>
                      <a:r>
                        <a:rPr sz="1900" b="1" i="0">
                          <a:solidFill>
                            <a:srgbClr val="24323E"/>
                          </a:solidFill>
                          <a:latin typeface="Times New Roman"/>
                          <a:ea typeface="Times New Roman"/>
                          <a:cs typeface="Times New Roman"/>
                        </a:rPr>
                        <a:t>Week 2</a:t>
                      </a:r>
                    </a:p>
                  </a:txBody>
                  <a:tcPr anchor="ctr">
                    <a:solidFill>
                      <a:srgbClr val="FFF4EB"/>
                    </a:solidFill>
                  </a:tcPr>
                </a:tc>
                <a:tc>
                  <a:txBody>
                    <a:bodyPr/>
                    <a:lstStyle/>
                    <a:p>
                      <a:r>
                        <a:rPr sz="1900" b="0" i="0">
                          <a:solidFill>
                            <a:srgbClr val="24323E"/>
                          </a:solidFill>
                          <a:latin typeface="Times New Roman"/>
                          <a:ea typeface="Times New Roman"/>
                          <a:cs typeface="Times New Roman"/>
                        </a:rPr>
                        <a:t>Clinics. Bring your actual notebook and get unstuck</a:t>
                      </a:r>
                    </a:p>
                  </a:txBody>
                  <a:tcPr anchor="ctr">
                    <a:solidFill>
                      <a:srgbClr val="FFF4EB"/>
                    </a:solidFill>
                  </a:tcPr>
                </a:tc>
                <a:tc>
                  <a:txBody>
                    <a:bodyPr/>
                    <a:lstStyle/>
                    <a:p>
                      <a:r>
                        <a:rPr sz="1900" b="0" i="0">
                          <a:solidFill>
                            <a:srgbClr val="24323E"/>
                          </a:solidFill>
                          <a:latin typeface="Times New Roman"/>
                          <a:ea typeface="Times New Roman"/>
                          <a:cs typeface="Times New Roman"/>
                        </a:rPr>
                        <a:t>Answer Q1-Q4, build the charts, start Q5</a:t>
                      </a:r>
                    </a:p>
                  </a:txBody>
                  <a:tcPr anchor="ctr">
                    <a:solidFill>
                      <a:srgbClr val="FFF4EB"/>
                    </a:solidFill>
                  </a:tcPr>
                </a:tc>
                <a:extLst>
                  <a:ext uri="{0D108BD9-81ED-4DB2-BD59-A6C34878D82A}">
                    <a16:rowId xmlns:a16="http://schemas.microsoft.com/office/drawing/2014/main" val="10002"/>
                  </a:ext>
                </a:extLst>
              </a:tr>
              <a:tr h="822960">
                <a:tc>
                  <a:txBody>
                    <a:bodyPr/>
                    <a:lstStyle/>
                    <a:p>
                      <a:r>
                        <a:rPr sz="1900" b="1" i="0">
                          <a:solidFill>
                            <a:srgbClr val="24323E"/>
                          </a:solidFill>
                          <a:latin typeface="Times New Roman"/>
                          <a:ea typeface="Times New Roman"/>
                          <a:cs typeface="Times New Roman"/>
                        </a:rPr>
                        <a:t>Week 3</a:t>
                      </a:r>
                    </a:p>
                  </a:txBody>
                  <a:tcPr anchor="ctr">
                    <a:solidFill>
                      <a:srgbClr val="FFFFFF"/>
                    </a:solidFill>
                  </a:tcPr>
                </a:tc>
                <a:tc>
                  <a:txBody>
                    <a:bodyPr/>
                    <a:lstStyle/>
                    <a:p>
                      <a:r>
                        <a:rPr sz="1900" b="0" i="0">
                          <a:solidFill>
                            <a:srgbClr val="24323E"/>
                          </a:solidFill>
                          <a:latin typeface="Times New Roman"/>
                          <a:ea typeface="Times New Roman"/>
                          <a:cs typeface="Times New Roman"/>
                        </a:rPr>
                        <a:t>Presentations</a:t>
                      </a:r>
                    </a:p>
                  </a:txBody>
                  <a:tcPr anchor="ctr">
                    <a:solidFill>
                      <a:srgbClr val="FFFFFF"/>
                    </a:solidFill>
                  </a:tcPr>
                </a:tc>
                <a:tc>
                  <a:txBody>
                    <a:bodyPr/>
                    <a:lstStyle/>
                    <a:p>
                      <a:r>
                        <a:rPr sz="1900" b="0" i="0">
                          <a:solidFill>
                            <a:srgbClr val="24323E"/>
                          </a:solidFill>
                          <a:latin typeface="Times New Roman"/>
                          <a:ea typeface="Times New Roman"/>
                          <a:cs typeface="Times New Roman"/>
                        </a:rPr>
                        <a:t>Finish Q5, write the reflection, review each other's code, final Restart and Run All</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If your team only works during class, you will run out of time in week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What usually </a:t>
            </a:r>
            <a:r>
              <a:rPr sz="3788" b="0" i="0">
                <a:solidFill>
                  <a:srgbClr val="F67132"/>
                </a:solidFill>
                <a:latin typeface="Times New Roman"/>
                <a:ea typeface="Times New Roman"/>
                <a:cs typeface="Times New Roman"/>
              </a:rPr>
              <a:t>goes wrong</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11</a:t>
            </a:r>
          </a:p>
        </p:txBody>
      </p:sp>
      <p:sp>
        <p:nvSpPr>
          <p:cNvPr id="4" name="TextBox 3"/>
          <p:cNvSpPr txBox="1"/>
          <p:nvPr/>
        </p:nvSpPr>
        <p:spPr>
          <a:xfrm>
            <a:off x="603504" y="1280160"/>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01</a:t>
            </a:r>
          </a:p>
        </p:txBody>
      </p:sp>
      <p:sp>
        <p:nvSpPr>
          <p:cNvPr id="5" name="TextBox 4"/>
          <p:cNvSpPr txBox="1"/>
          <p:nvPr/>
        </p:nvSpPr>
        <p:spPr>
          <a:xfrm>
            <a:off x="1481328" y="1280160"/>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Dirty data first</a:t>
            </a:r>
          </a:p>
        </p:txBody>
      </p:sp>
      <p:sp>
        <p:nvSpPr>
          <p:cNvPr id="6" name="TextBox 5"/>
          <p:cNvSpPr txBox="1"/>
          <p:nvPr/>
        </p:nvSpPr>
        <p:spPr>
          <a:xfrm>
            <a:off x="4956048" y="1280160"/>
            <a:ext cx="6245352" cy="758952"/>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Starting the analysis before the cleaning is done. The numbers look fine, and they're wrong.</a:t>
            </a:r>
          </a:p>
        </p:txBody>
      </p:sp>
      <p:sp>
        <p:nvSpPr>
          <p:cNvPr id="7" name="TextBox 6"/>
          <p:cNvSpPr txBox="1"/>
          <p:nvPr/>
        </p:nvSpPr>
        <p:spPr>
          <a:xfrm>
            <a:off x="603504" y="2130552"/>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02</a:t>
            </a:r>
          </a:p>
        </p:txBody>
      </p:sp>
      <p:sp>
        <p:nvSpPr>
          <p:cNvPr id="8" name="TextBox 7"/>
          <p:cNvSpPr txBox="1"/>
          <p:nvPr/>
        </p:nvSpPr>
        <p:spPr>
          <a:xfrm>
            <a:off x="1481328" y="2130552"/>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A shared notebook</a:t>
            </a:r>
          </a:p>
        </p:txBody>
      </p:sp>
      <p:sp>
        <p:nvSpPr>
          <p:cNvPr id="9" name="TextBox 8"/>
          <p:cNvSpPr txBox="1"/>
          <p:nvPr/>
        </p:nvSpPr>
        <p:spPr>
          <a:xfrm>
            <a:off x="4956048" y="2130552"/>
            <a:ext cx="6245352" cy="758952"/>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Everyone editing the same file. Notebooks conflict badly and you get two versions of the truth.</a:t>
            </a:r>
          </a:p>
        </p:txBody>
      </p:sp>
      <p:sp>
        <p:nvSpPr>
          <p:cNvPr id="10" name="TextBox 9"/>
          <p:cNvSpPr txBox="1"/>
          <p:nvPr/>
        </p:nvSpPr>
        <p:spPr>
          <a:xfrm>
            <a:off x="603504" y="2980944"/>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03</a:t>
            </a:r>
          </a:p>
        </p:txBody>
      </p:sp>
      <p:sp>
        <p:nvSpPr>
          <p:cNvPr id="11" name="TextBox 10"/>
          <p:cNvSpPr txBox="1"/>
          <p:nvPr/>
        </p:nvSpPr>
        <p:spPr>
          <a:xfrm>
            <a:off x="1481328" y="2980944"/>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Quiet cleaning</a:t>
            </a:r>
          </a:p>
        </p:txBody>
      </p:sp>
      <p:sp>
        <p:nvSpPr>
          <p:cNvPr id="12" name="TextBox 11"/>
          <p:cNvSpPr txBox="1"/>
          <p:nvPr/>
        </p:nvSpPr>
        <p:spPr>
          <a:xfrm>
            <a:off x="4956048" y="2980944"/>
            <a:ext cx="6245352" cy="758952"/>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One person cleans everything and nobody knows what was decided.</a:t>
            </a:r>
          </a:p>
        </p:txBody>
      </p:sp>
      <p:sp>
        <p:nvSpPr>
          <p:cNvPr id="13" name="TextBox 12"/>
          <p:cNvSpPr txBox="1"/>
          <p:nvPr/>
        </p:nvSpPr>
        <p:spPr>
          <a:xfrm>
            <a:off x="603504" y="3831335"/>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04</a:t>
            </a:r>
          </a:p>
        </p:txBody>
      </p:sp>
      <p:sp>
        <p:nvSpPr>
          <p:cNvPr id="14" name="TextBox 13"/>
          <p:cNvSpPr txBox="1"/>
          <p:nvPr/>
        </p:nvSpPr>
        <p:spPr>
          <a:xfrm>
            <a:off x="1481328" y="3831335"/>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Lost decisions</a:t>
            </a:r>
          </a:p>
        </p:txBody>
      </p:sp>
      <p:sp>
        <p:nvSpPr>
          <p:cNvPr id="15" name="TextBox 14"/>
          <p:cNvSpPr txBox="1"/>
          <p:nvPr/>
        </p:nvSpPr>
        <p:spPr>
          <a:xfrm>
            <a:off x="4956048" y="3831335"/>
            <a:ext cx="6245352" cy="758952"/>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Choices made in chat and never written down. Two weeks later nobody remembers why.</a:t>
            </a:r>
          </a:p>
        </p:txBody>
      </p:sp>
      <p:sp>
        <p:nvSpPr>
          <p:cNvPr id="16" name="TextBox 15"/>
          <p:cNvSpPr txBox="1"/>
          <p:nvPr/>
        </p:nvSpPr>
        <p:spPr>
          <a:xfrm>
            <a:off x="603504" y="4681728"/>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05</a:t>
            </a:r>
          </a:p>
        </p:txBody>
      </p:sp>
      <p:sp>
        <p:nvSpPr>
          <p:cNvPr id="17" name="TextBox 16"/>
          <p:cNvSpPr txBox="1"/>
          <p:nvPr/>
        </p:nvSpPr>
        <p:spPr>
          <a:xfrm>
            <a:off x="1481328" y="4681728"/>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A late weather API</a:t>
            </a:r>
          </a:p>
        </p:txBody>
      </p:sp>
      <p:sp>
        <p:nvSpPr>
          <p:cNvPr id="18" name="TextBox 17"/>
          <p:cNvSpPr txBox="1"/>
          <p:nvPr/>
        </p:nvSpPr>
        <p:spPr>
          <a:xfrm>
            <a:off x="4956048" y="4681728"/>
            <a:ext cx="6245352" cy="758952"/>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Left to the last week. Q3 depends on it, and you can't fake it.</a:t>
            </a:r>
          </a:p>
        </p:txBody>
      </p:sp>
      <p:sp>
        <p:nvSpPr>
          <p:cNvPr id="19" name="TextBox 18"/>
          <p:cNvSpPr txBox="1"/>
          <p:nvPr/>
        </p:nvSpPr>
        <p:spPr>
          <a:xfrm>
            <a:off x="603504" y="557784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The charter is built to prevent each 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Forming </a:t>
            </a:r>
            <a:r>
              <a:rPr sz="3788" b="0" i="0">
                <a:solidFill>
                  <a:srgbClr val="F67132"/>
                </a:solidFill>
                <a:latin typeface="Times New Roman"/>
                <a:ea typeface="Times New Roman"/>
                <a:cs typeface="Times New Roman"/>
              </a:rPr>
              <a:t>teams</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12</a:t>
            </a:r>
          </a:p>
        </p:txBody>
      </p:sp>
      <p:sp>
        <p:nvSpPr>
          <p:cNvPr id="4" name="TextBox 3"/>
          <p:cNvSpPr txBox="1"/>
          <p:nvPr/>
        </p:nvSpPr>
        <p:spPr>
          <a:xfrm>
            <a:off x="603504" y="1307592"/>
            <a:ext cx="10671048" cy="1097280"/>
          </a:xfrm>
          <a:prstGeom prst="rect">
            <a:avLst/>
          </a:prstGeom>
          <a:noFill/>
        </p:spPr>
        <p:txBody>
          <a:bodyPr wrap="square" lIns="0" tIns="0" rIns="0" bIns="0" anchor="t">
            <a:noAutofit/>
          </a:bodyPr>
          <a:lstStyle/>
          <a:p>
            <a:pPr algn="l">
              <a:lnSpc>
                <a:spcPct val="105000"/>
              </a:lnSpc>
              <a:spcAft>
                <a:spcPts val="0"/>
              </a:spcAft>
            </a:pPr>
            <a:r>
              <a:rPr sz="3300" b="1" i="0">
                <a:solidFill>
                  <a:srgbClr val="24323E"/>
                </a:solidFill>
                <a:latin typeface="Times New Roman"/>
                <a:ea typeface="Times New Roman"/>
                <a:cs typeface="Times New Roman"/>
              </a:rPr>
              <a:t>2 to 4 people. Pick teammates now</a:t>
            </a:r>
          </a:p>
          <a:p>
            <a:pPr algn="l">
              <a:lnSpc>
                <a:spcPct val="105000"/>
              </a:lnSpc>
              <a:spcAft>
                <a:spcPts val="0"/>
              </a:spcAft>
            </a:pPr>
            <a:r>
              <a:rPr sz="3300" b="1" i="0">
                <a:solidFill>
                  <a:srgbClr val="24323E"/>
                </a:solidFill>
                <a:latin typeface="Times New Roman"/>
                <a:ea typeface="Times New Roman"/>
                <a:cs typeface="Times New Roman"/>
              </a:rPr>
              <a:t>and sit together.</a:t>
            </a:r>
          </a:p>
        </p:txBody>
      </p:sp>
      <p:sp>
        <p:nvSpPr>
          <p:cNvPr id="5" name="TextBox 4"/>
          <p:cNvSpPr txBox="1"/>
          <p:nvPr/>
        </p:nvSpPr>
        <p:spPr>
          <a:xfrm>
            <a:off x="603504" y="2916936"/>
            <a:ext cx="3392423"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Schedule first</a:t>
            </a:r>
          </a:p>
        </p:txBody>
      </p:sp>
      <p:sp>
        <p:nvSpPr>
          <p:cNvPr id="6" name="TextBox 5"/>
          <p:cNvSpPr txBox="1"/>
          <p:nvPr/>
        </p:nvSpPr>
        <p:spPr>
          <a:xfrm>
            <a:off x="603504" y="3364991"/>
            <a:ext cx="3392423"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You need a regular time outside class when everyone can meet.</a:t>
            </a:r>
          </a:p>
        </p:txBody>
      </p:sp>
      <p:sp>
        <p:nvSpPr>
          <p:cNvPr id="7" name="TextBox 6"/>
          <p:cNvSpPr txBox="1"/>
          <p:nvPr/>
        </p:nvSpPr>
        <p:spPr>
          <a:xfrm>
            <a:off x="4361688" y="2916936"/>
            <a:ext cx="3392423"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Mix your strengths</a:t>
            </a:r>
          </a:p>
        </p:txBody>
      </p:sp>
      <p:sp>
        <p:nvSpPr>
          <p:cNvPr id="8" name="TextBox 7"/>
          <p:cNvSpPr txBox="1"/>
          <p:nvPr/>
        </p:nvSpPr>
        <p:spPr>
          <a:xfrm>
            <a:off x="4361688" y="3364991"/>
            <a:ext cx="3392423"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Someone for cleaning, someone for the API, someone for charts and writing. Everybody codes.</a:t>
            </a:r>
          </a:p>
        </p:txBody>
      </p:sp>
      <p:sp>
        <p:nvSpPr>
          <p:cNvPr id="9" name="TextBox 8"/>
          <p:cNvSpPr txBox="1"/>
          <p:nvPr/>
        </p:nvSpPr>
        <p:spPr>
          <a:xfrm>
            <a:off x="8119871" y="2916936"/>
            <a:ext cx="3392423"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Be honest about time</a:t>
            </a:r>
          </a:p>
        </p:txBody>
      </p:sp>
      <p:sp>
        <p:nvSpPr>
          <p:cNvPr id="10" name="TextBox 9"/>
          <p:cNvSpPr txBox="1"/>
          <p:nvPr/>
        </p:nvSpPr>
        <p:spPr>
          <a:xfrm>
            <a:off x="8119871" y="3364991"/>
            <a:ext cx="3392423"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Jobs, other classes, and travel are fine. Finding out in week 3 is not.</a:t>
            </a:r>
          </a:p>
        </p:txBody>
      </p:sp>
      <p:sp>
        <p:nvSpPr>
          <p:cNvPr id="11" name="TextBox 10"/>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No team yet? Say so now.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Profile the data </a:t>
            </a:r>
            <a:r>
              <a:rPr sz="3788" b="0" i="0">
                <a:solidFill>
                  <a:srgbClr val="F67132"/>
                </a:solidFill>
                <a:latin typeface="Times New Roman"/>
                <a:ea typeface="Times New Roman"/>
                <a:cs typeface="Times New Roman"/>
              </a:rPr>
              <a:t>together</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13</a:t>
            </a:r>
          </a:p>
        </p:txBody>
      </p:sp>
      <p:sp>
        <p:nvSpPr>
          <p:cNvPr id="4" name="TextBox 3"/>
          <p:cNvSpPr txBox="1"/>
          <p:nvPr/>
        </p:nvSpPr>
        <p:spPr>
          <a:xfrm>
            <a:off x="603504" y="1261872"/>
            <a:ext cx="10479024" cy="475488"/>
          </a:xfrm>
          <a:prstGeom prst="rect">
            <a:avLst/>
          </a:prstGeom>
          <a:noFill/>
        </p:spPr>
        <p:txBody>
          <a:bodyPr wrap="square" lIns="0" tIns="0" rIns="0" bIns="0" anchor="t">
            <a:noAutofit/>
          </a:bodyPr>
          <a:lstStyle/>
          <a:p>
            <a:pPr algn="l">
              <a:lnSpc>
                <a:spcPct val="105000"/>
              </a:lnSpc>
              <a:spcAft>
                <a:spcPts val="0"/>
              </a:spcAft>
            </a:pPr>
            <a:r>
              <a:rPr sz="2800" b="1" i="0">
                <a:solidFill>
                  <a:srgbClr val="24323E"/>
                </a:solidFill>
                <a:latin typeface="Times New Roman"/>
                <a:ea typeface="Times New Roman"/>
                <a:cs typeface="Times New Roman"/>
              </a:rPr>
              <a:t>Run this on the real file</a:t>
            </a:r>
          </a:p>
        </p:txBody>
      </p:sp>
      <p:sp>
        <p:nvSpPr>
          <p:cNvPr id="5" name="Rectangle 4"/>
          <p:cNvSpPr/>
          <p:nvPr/>
        </p:nvSpPr>
        <p:spPr>
          <a:xfrm>
            <a:off x="603504" y="1956816"/>
            <a:ext cx="10908792" cy="914400"/>
          </a:xfrm>
          <a:prstGeom prst="rect">
            <a:avLst/>
          </a:prstGeom>
          <a:solidFill>
            <a:srgbClr val="FFF7F1"/>
          </a:solidFill>
          <a:ln w="7620">
            <a:solidFill>
              <a:srgbClr val="E6D5CA"/>
            </a:solidFill>
          </a:ln>
          <a:effectLst/>
        </p:spPr>
        <p:style>
          <a:lnRef idx="1">
            <a:schemeClr val="accent1"/>
          </a:lnRef>
          <a:fillRef idx="3">
            <a:schemeClr val="accent1"/>
          </a:fillRef>
          <a:effectRef idx="2">
            <a:schemeClr val="accent1"/>
          </a:effectRef>
          <a:fontRef idx="minor">
            <a:schemeClr val="lt1"/>
          </a:fontRef>
        </p:style>
        <p:txBody>
          <a:bodyPr wrap="none" lIns="133350" tIns="114300" rIns="133350" bIns="114300" rtlCol="0" anchor="t"/>
          <a:lstStyle/>
          <a:p>
            <a:pPr algn="l">
              <a:spcBef>
                <a:spcPts val="0"/>
              </a:spcBef>
              <a:spcAft>
                <a:spcPts val="0"/>
              </a:spcAft>
            </a:pPr>
            <a:r>
              <a:rPr sz="1739" b="0" i="0">
                <a:solidFill>
                  <a:srgbClr val="24323E"/>
                </a:solidFill>
                <a:latin typeface="Courier New"/>
                <a:ea typeface="Courier New"/>
                <a:cs typeface="Courier New"/>
              </a:rPr>
              <a:t>tx = pd.read_csv(</a:t>
            </a:r>
            <a:r>
              <a:rPr sz="1739" b="0" i="0">
                <a:solidFill>
                  <a:srgbClr val="A94B23"/>
                </a:solidFill>
                <a:latin typeface="Courier New"/>
                <a:ea typeface="Courier New"/>
                <a:cs typeface="Courier New"/>
              </a:rPr>
              <a:t>'data/walmart_transactions.csv'</a:t>
            </a:r>
            <a:r>
              <a:rPr sz="1739" b="0" i="0">
                <a:solidFill>
                  <a:srgbClr val="24323E"/>
                </a:solidFill>
                <a:latin typeface="Courier New"/>
                <a:ea typeface="Courier New"/>
                <a:cs typeface="Courier New"/>
              </a:rPr>
              <a:t>)</a:t>
            </a:r>
          </a:p>
          <a:p>
            <a:pPr algn="l">
              <a:spcBef>
                <a:spcPts val="0"/>
              </a:spcBef>
              <a:spcAft>
                <a:spcPts val="0"/>
              </a:spcAft>
            </a:pPr>
            <a:r>
              <a:rPr sz="1739" b="0" i="0">
                <a:solidFill>
                  <a:srgbClr val="24323E"/>
                </a:solidFill>
                <a:latin typeface="Courier New"/>
                <a:ea typeface="Courier New"/>
                <a:cs typeface="Courier New"/>
              </a:rPr>
              <a:t>profile(tx, </a:t>
            </a:r>
            <a:r>
              <a:rPr sz="1739" b="0" i="0">
                <a:solidFill>
                  <a:srgbClr val="A94B23"/>
                </a:solidFill>
                <a:latin typeface="Courier New"/>
                <a:ea typeface="Courier New"/>
                <a:cs typeface="Courier New"/>
              </a:rPr>
              <a:t>'walmart_transactions'</a:t>
            </a:r>
            <a:r>
              <a:rPr sz="1739" b="0" i="0">
                <a:solidFill>
                  <a:srgbClr val="24323E"/>
                </a:solidFill>
                <a:latin typeface="Courier New"/>
                <a:ea typeface="Courier New"/>
                <a:cs typeface="Courier New"/>
              </a:rPr>
              <a:t>)</a:t>
            </a:r>
          </a:p>
        </p:txBody>
      </p:sp>
      <p:sp>
        <p:nvSpPr>
          <p:cNvPr id="6" name="TextBox 5"/>
          <p:cNvSpPr txBox="1"/>
          <p:nvPr/>
        </p:nvSpPr>
        <p:spPr>
          <a:xfrm>
            <a:off x="603504" y="3383280"/>
            <a:ext cx="4800600"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What it shows</a:t>
            </a:r>
          </a:p>
        </p:txBody>
      </p:sp>
      <p:sp>
        <p:nvSpPr>
          <p:cNvPr id="7" name="TextBox 6"/>
          <p:cNvSpPr txBox="1"/>
          <p:nvPr/>
        </p:nvSpPr>
        <p:spPr>
          <a:xfrm>
            <a:off x="603504" y="3831336"/>
            <a:ext cx="4800600" cy="12801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Rows, columns, types, nulls, and how many distinct values each column has.</a:t>
            </a:r>
          </a:p>
        </p:txBody>
      </p:sp>
      <p:sp>
        <p:nvSpPr>
          <p:cNvPr id="8" name="TextBox 7"/>
          <p:cNvSpPr txBox="1"/>
          <p:nvPr/>
        </p:nvSpPr>
        <p:spPr>
          <a:xfrm>
            <a:off x="6382512" y="3383280"/>
            <a:ext cx="4800600"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What you do</a:t>
            </a:r>
          </a:p>
        </p:txBody>
      </p:sp>
      <p:sp>
        <p:nvSpPr>
          <p:cNvPr id="9" name="TextBox 8"/>
          <p:cNvSpPr txBox="1"/>
          <p:nvPr/>
        </p:nvSpPr>
        <p:spPr>
          <a:xfrm>
            <a:off x="6382512" y="3831336"/>
            <a:ext cx="4800600" cy="12801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Read it out loud as a team, then list the five worst problems you can see.</a:t>
            </a:r>
          </a:p>
        </p:txBody>
      </p:sp>
      <p:sp>
        <p:nvSpPr>
          <p:cNvPr id="10" name="TextBox 9"/>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The profile() function is in the notebook. Keep it. You will use it again on the capstone.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Read the profile </a:t>
            </a:r>
            <a:r>
              <a:rPr sz="3788" b="0" i="0">
                <a:solidFill>
                  <a:srgbClr val="F67132"/>
                </a:solidFill>
                <a:latin typeface="Times New Roman"/>
                <a:ea typeface="Times New Roman"/>
                <a:cs typeface="Times New Roman"/>
              </a:rPr>
              <a:t>out loud</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14</a:t>
            </a:r>
          </a:p>
        </p:txBody>
      </p:sp>
      <p:sp>
        <p:nvSpPr>
          <p:cNvPr id="4" name="TextBox 3"/>
          <p:cNvSpPr txBox="1"/>
          <p:nvPr/>
        </p:nvSpPr>
        <p:spPr>
          <a:xfrm>
            <a:off x="603504" y="1325880"/>
            <a:ext cx="3392423"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distinct</a:t>
            </a:r>
          </a:p>
        </p:txBody>
      </p:sp>
      <p:sp>
        <p:nvSpPr>
          <p:cNvPr id="5" name="TextBox 4"/>
          <p:cNvSpPr txBox="1"/>
          <p:nvPr/>
        </p:nvSpPr>
        <p:spPr>
          <a:xfrm>
            <a:off x="603504" y="1773936"/>
            <a:ext cx="3392423" cy="2834640"/>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Compare with what should be true. If store_id, product_name, or category have far more values than the store and product files have rows, that is formatting noise.</a:t>
            </a:r>
          </a:p>
        </p:txBody>
      </p:sp>
      <p:sp>
        <p:nvSpPr>
          <p:cNvPr id="6" name="TextBox 5"/>
          <p:cNvSpPr txBox="1"/>
          <p:nvPr/>
        </p:nvSpPr>
        <p:spPr>
          <a:xfrm>
            <a:off x="4361688" y="1325880"/>
            <a:ext cx="3392423"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dtype</a:t>
            </a:r>
          </a:p>
        </p:txBody>
      </p:sp>
      <p:sp>
        <p:nvSpPr>
          <p:cNvPr id="7" name="TextBox 6"/>
          <p:cNvSpPr txBox="1"/>
          <p:nvPr/>
        </p:nvSpPr>
        <p:spPr>
          <a:xfrm>
            <a:off x="4361688" y="1773936"/>
            <a:ext cx="3392423" cy="2834640"/>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unit_price came in as text, so something non-numeric is in there. quantity looks numeric, but check its values too.</a:t>
            </a:r>
          </a:p>
        </p:txBody>
      </p:sp>
      <p:sp>
        <p:nvSpPr>
          <p:cNvPr id="8" name="TextBox 7"/>
          <p:cNvSpPr txBox="1"/>
          <p:nvPr/>
        </p:nvSpPr>
        <p:spPr>
          <a:xfrm>
            <a:off x="8119871" y="1325880"/>
            <a:ext cx="3392423"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null_pct</a:t>
            </a:r>
          </a:p>
        </p:txBody>
      </p:sp>
      <p:sp>
        <p:nvSpPr>
          <p:cNvPr id="9" name="TextBox 8"/>
          <p:cNvSpPr txBox="1"/>
          <p:nvPr/>
        </p:nvSpPr>
        <p:spPr>
          <a:xfrm>
            <a:off x="8119871" y="1773936"/>
            <a:ext cx="3392423" cy="2834640"/>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Anything above zero is a decision somebody on your team has to make and write down.</a:t>
            </a:r>
          </a:p>
        </p:txBody>
      </p:sp>
      <p:sp>
        <p:nvSpPr>
          <p:cNvPr id="10" name="TextBox 9"/>
          <p:cNvSpPr txBox="1"/>
          <p:nvPr/>
        </p:nvSpPr>
        <p:spPr>
          <a:xfrm>
            <a:off x="603504" y="4754880"/>
            <a:ext cx="10908792" cy="1097280"/>
          </a:xfrm>
          <a:prstGeom prst="rect">
            <a:avLst/>
          </a:prstGeom>
          <a:noFill/>
        </p:spPr>
        <p:txBody>
          <a:bodyPr wrap="square" lIns="0" tIns="0" rIns="0" bIns="0" anchor="t">
            <a:noAutofit/>
          </a:bodyPr>
          <a:lstStyle/>
          <a:p>
            <a:pPr algn="l">
              <a:lnSpc>
                <a:spcPct val="105000"/>
              </a:lnSpc>
              <a:spcAft>
                <a:spcPts val="0"/>
              </a:spcAft>
            </a:pPr>
            <a:r>
              <a:rPr sz="2000" b="1" i="0">
                <a:solidFill>
                  <a:srgbClr val="F67132"/>
                </a:solidFill>
                <a:latin typeface="Times New Roman"/>
                <a:ea typeface="Times New Roman"/>
                <a:cs typeface="Times New Roman"/>
              </a:rPr>
              <a:t>Your task: </a:t>
            </a:r>
            <a:r>
              <a:rPr sz="2000" b="0" i="0">
                <a:solidFill>
                  <a:srgbClr val="24323E"/>
                </a:solidFill>
                <a:latin typeface="Times New Roman"/>
                <a:ea typeface="Times New Roman"/>
                <a:cs typeface="Times New Roman"/>
              </a:rPr>
              <a:t>list the five worst problems. Be specific. "unit_price is stored as text and some values start with $" beats "prices are messy."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The team </a:t>
            </a:r>
            <a:r>
              <a:rPr sz="3788" b="0" i="0">
                <a:solidFill>
                  <a:srgbClr val="F67132"/>
                </a:solidFill>
                <a:latin typeface="Times New Roman"/>
                <a:ea typeface="Times New Roman"/>
                <a:cs typeface="Times New Roman"/>
              </a:rPr>
              <a:t>charter</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15</a:t>
            </a:r>
          </a:p>
        </p:txBody>
      </p:sp>
      <p:sp>
        <p:nvSpPr>
          <p:cNvPr id="4" name="TextBox 3"/>
          <p:cNvSpPr txBox="1"/>
          <p:nvPr/>
        </p:nvSpPr>
        <p:spPr>
          <a:xfrm>
            <a:off x="603504" y="1380744"/>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01</a:t>
            </a:r>
          </a:p>
        </p:txBody>
      </p:sp>
      <p:sp>
        <p:nvSpPr>
          <p:cNvPr id="5" name="TextBox 4"/>
          <p:cNvSpPr txBox="1"/>
          <p:nvPr/>
        </p:nvSpPr>
        <p:spPr>
          <a:xfrm>
            <a:off x="1481328" y="1380744"/>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Goals</a:t>
            </a:r>
          </a:p>
        </p:txBody>
      </p:sp>
      <p:sp>
        <p:nvSpPr>
          <p:cNvPr id="6" name="TextBox 5"/>
          <p:cNvSpPr txBox="1"/>
          <p:nvPr/>
        </p:nvSpPr>
        <p:spPr>
          <a:xfrm>
            <a:off x="4956048" y="1380744"/>
            <a:ext cx="6245352" cy="8229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What a good result looks like, and what limits your time.</a:t>
            </a:r>
          </a:p>
        </p:txBody>
      </p:sp>
      <p:sp>
        <p:nvSpPr>
          <p:cNvPr id="7" name="TextBox 6"/>
          <p:cNvSpPr txBox="1"/>
          <p:nvPr/>
        </p:nvSpPr>
        <p:spPr>
          <a:xfrm>
            <a:off x="603504" y="2295144"/>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02</a:t>
            </a:r>
          </a:p>
        </p:txBody>
      </p:sp>
      <p:sp>
        <p:nvSpPr>
          <p:cNvPr id="8" name="TextBox 7"/>
          <p:cNvSpPr txBox="1"/>
          <p:nvPr/>
        </p:nvSpPr>
        <p:spPr>
          <a:xfrm>
            <a:off x="1481328" y="2295144"/>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Who does what</a:t>
            </a:r>
          </a:p>
        </p:txBody>
      </p:sp>
      <p:sp>
        <p:nvSpPr>
          <p:cNvPr id="9" name="TextBox 8"/>
          <p:cNvSpPr txBox="1"/>
          <p:nvPr/>
        </p:nvSpPr>
        <p:spPr>
          <a:xfrm>
            <a:off x="4956048" y="2295144"/>
            <a:ext cx="6245352" cy="8229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Four jobs, each with an owner and a backup.</a:t>
            </a:r>
          </a:p>
        </p:txBody>
      </p:sp>
      <p:sp>
        <p:nvSpPr>
          <p:cNvPr id="10" name="TextBox 9"/>
          <p:cNvSpPr txBox="1"/>
          <p:nvPr/>
        </p:nvSpPr>
        <p:spPr>
          <a:xfrm>
            <a:off x="603504" y="3209544"/>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03</a:t>
            </a:r>
          </a:p>
        </p:txBody>
      </p:sp>
      <p:sp>
        <p:nvSpPr>
          <p:cNvPr id="11" name="TextBox 10"/>
          <p:cNvSpPr txBox="1"/>
          <p:nvPr/>
        </p:nvSpPr>
        <p:spPr>
          <a:xfrm>
            <a:off x="1481328" y="3209544"/>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Question owners</a:t>
            </a:r>
          </a:p>
        </p:txBody>
      </p:sp>
      <p:sp>
        <p:nvSpPr>
          <p:cNvPr id="12" name="TextBox 11"/>
          <p:cNvSpPr txBox="1"/>
          <p:nvPr/>
        </p:nvSpPr>
        <p:spPr>
          <a:xfrm>
            <a:off x="4956048" y="3209544"/>
            <a:ext cx="6245352" cy="8229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An owner writes each answer and a reviewer tries to break it.</a:t>
            </a:r>
          </a:p>
        </p:txBody>
      </p:sp>
      <p:sp>
        <p:nvSpPr>
          <p:cNvPr id="13" name="TextBox 12"/>
          <p:cNvSpPr txBox="1"/>
          <p:nvPr/>
        </p:nvSpPr>
        <p:spPr>
          <a:xfrm>
            <a:off x="603504" y="4123944"/>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04</a:t>
            </a:r>
          </a:p>
        </p:txBody>
      </p:sp>
      <p:sp>
        <p:nvSpPr>
          <p:cNvPr id="14" name="TextBox 13"/>
          <p:cNvSpPr txBox="1"/>
          <p:nvPr/>
        </p:nvSpPr>
        <p:spPr>
          <a:xfrm>
            <a:off x="1481328" y="4123944"/>
            <a:ext cx="3191256" cy="493776"/>
          </a:xfrm>
          <a:prstGeom prst="rect">
            <a:avLst/>
          </a:prstGeom>
          <a:noFill/>
        </p:spPr>
        <p:txBody>
          <a:bodyPr wrap="square" lIns="0" tIns="0" rIns="0" bIns="0" anchor="t">
            <a:noAutofit/>
          </a:bodyPr>
          <a:lstStyle/>
          <a:p>
            <a:pPr algn="l">
              <a:lnSpc>
                <a:spcPct val="105000"/>
              </a:lnSpc>
              <a:spcAft>
                <a:spcPts val="0"/>
              </a:spcAft>
            </a:pPr>
            <a:r>
              <a:rPr sz="2400" b="1" i="0">
                <a:solidFill>
                  <a:srgbClr val="24323E"/>
                </a:solidFill>
                <a:latin typeface="Times New Roman"/>
                <a:ea typeface="Times New Roman"/>
                <a:cs typeface="Times New Roman"/>
              </a:rPr>
              <a:t>How we work</a:t>
            </a:r>
          </a:p>
        </p:txBody>
      </p:sp>
      <p:sp>
        <p:nvSpPr>
          <p:cNvPr id="15" name="TextBox 14"/>
          <p:cNvSpPr txBox="1"/>
          <p:nvPr/>
        </p:nvSpPr>
        <p:spPr>
          <a:xfrm>
            <a:off x="4956048" y="4123944"/>
            <a:ext cx="6245352" cy="8229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Where you talk, when you meet, how you decide.</a:t>
            </a:r>
          </a:p>
        </p:txBody>
      </p:sp>
      <p:sp>
        <p:nvSpPr>
          <p:cNvPr id="16" name="TextBox 15"/>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Do it as a team, run the code cell, and commit CHARTER.md today.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Charter, part 1: </a:t>
            </a:r>
            <a:r>
              <a:rPr sz="3788" b="0" i="0">
                <a:solidFill>
                  <a:srgbClr val="F67132"/>
                </a:solidFill>
                <a:latin typeface="Times New Roman"/>
                <a:ea typeface="Times New Roman"/>
                <a:cs typeface="Times New Roman"/>
              </a:rPr>
              <a:t>goals</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16</a:t>
            </a:r>
          </a:p>
        </p:txBody>
      </p:sp>
      <p:sp>
        <p:nvSpPr>
          <p:cNvPr id="4" name="TextBox 3"/>
          <p:cNvSpPr txBox="1"/>
          <p:nvPr/>
        </p:nvSpPr>
        <p:spPr>
          <a:xfrm>
            <a:off x="603504" y="137160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A good result</a:t>
            </a:r>
          </a:p>
        </p:txBody>
      </p:sp>
      <p:sp>
        <p:nvSpPr>
          <p:cNvPr id="5" name="TextBox 4"/>
          <p:cNvSpPr txBox="1"/>
          <p:nvPr/>
        </p:nvSpPr>
        <p:spPr>
          <a:xfrm>
            <a:off x="603504" y="1819656"/>
            <a:ext cx="5125212"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What does it look like for our team? "A notebook we're proud of and can explain" is a goal. "Do well" is not.</a:t>
            </a:r>
          </a:p>
        </p:txBody>
      </p:sp>
      <p:sp>
        <p:nvSpPr>
          <p:cNvPr id="6" name="TextBox 5"/>
          <p:cNvSpPr txBox="1"/>
          <p:nvPr/>
        </p:nvSpPr>
        <p:spPr>
          <a:xfrm>
            <a:off x="6387083" y="137160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What each person wants</a:t>
            </a:r>
          </a:p>
        </p:txBody>
      </p:sp>
      <p:sp>
        <p:nvSpPr>
          <p:cNvPr id="7" name="TextBox 6"/>
          <p:cNvSpPr txBox="1"/>
          <p:nvPr/>
        </p:nvSpPr>
        <p:spPr>
          <a:xfrm>
            <a:off x="6387083" y="1819656"/>
            <a:ext cx="5125212"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API practice, a strong presentation, or just getting through it. All fine, and easier to plan around when everyone says it.</a:t>
            </a:r>
          </a:p>
        </p:txBody>
      </p:sp>
      <p:sp>
        <p:nvSpPr>
          <p:cNvPr id="8" name="TextBox 7"/>
          <p:cNvSpPr txBox="1"/>
          <p:nvPr/>
        </p:nvSpPr>
        <p:spPr>
          <a:xfrm>
            <a:off x="603504" y="361188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What limits our time</a:t>
            </a:r>
          </a:p>
        </p:txBody>
      </p:sp>
      <p:sp>
        <p:nvSpPr>
          <p:cNvPr id="9" name="TextBox 8"/>
          <p:cNvSpPr txBox="1"/>
          <p:nvPr/>
        </p:nvSpPr>
        <p:spPr>
          <a:xfrm>
            <a:off x="603504" y="4059936"/>
            <a:ext cx="5125212" cy="137160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Work shifts, other classes, travel. Put the real ones on the table now.</a:t>
            </a:r>
          </a:p>
        </p:txBody>
      </p:sp>
      <p:sp>
        <p:nvSpPr>
          <p:cNvPr id="10" name="TextBox 9"/>
          <p:cNvSpPr txBox="1"/>
          <p:nvPr/>
        </p:nvSpPr>
        <p:spPr>
          <a:xfrm>
            <a:off x="6387083" y="361188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What to avoid</a:t>
            </a:r>
          </a:p>
        </p:txBody>
      </p:sp>
      <p:sp>
        <p:nvSpPr>
          <p:cNvPr id="11" name="TextBox 10"/>
          <p:cNvSpPr txBox="1"/>
          <p:nvPr/>
        </p:nvSpPr>
        <p:spPr>
          <a:xfrm>
            <a:off x="6387083" y="4059936"/>
            <a:ext cx="5125212" cy="137160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What would make this a bad experience, and what will we do about it?</a:t>
            </a:r>
          </a:p>
        </p:txBody>
      </p:sp>
      <p:sp>
        <p:nvSpPr>
          <p:cNvPr id="12" name="TextBox 11"/>
          <p:cNvSpPr txBox="1"/>
          <p:nvPr/>
        </p:nvSpPr>
        <p:spPr>
          <a:xfrm>
            <a:off x="603504" y="557784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Agree on these out loud before you assign anything.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Charter, part 2: </a:t>
            </a:r>
            <a:r>
              <a:rPr sz="3788" b="0" i="0">
                <a:solidFill>
                  <a:srgbClr val="F67132"/>
                </a:solidFill>
                <a:latin typeface="Times New Roman"/>
                <a:ea typeface="Times New Roman"/>
                <a:cs typeface="Times New Roman"/>
              </a:rPr>
              <a:t>who does what</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17</a:t>
            </a:r>
          </a:p>
        </p:txBody>
      </p:sp>
      <p:graphicFrame>
        <p:nvGraphicFramePr>
          <p:cNvPr id="4" name="Table 3"/>
          <p:cNvGraphicFramePr>
            <a:graphicFrameLocks noGrp="1"/>
          </p:cNvGraphicFramePr>
          <p:nvPr/>
        </p:nvGraphicFramePr>
        <p:xfrm>
          <a:off x="603504" y="1197864"/>
          <a:ext cx="10954512" cy="3657600"/>
        </p:xfrm>
        <a:graphic>
          <a:graphicData uri="http://schemas.openxmlformats.org/drawingml/2006/table">
            <a:tbl>
              <a:tblPr/>
              <a:tblGrid>
                <a:gridCol w="210312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1581912">
                  <a:extLst>
                    <a:ext uri="{9D8B030D-6E8A-4147-A177-3AD203B41FA5}">
                      <a16:colId xmlns:a16="http://schemas.microsoft.com/office/drawing/2014/main" val="20003"/>
                    </a:ext>
                  </a:extLst>
                </a:gridCol>
              </a:tblGrid>
              <a:tr h="640080">
                <a:tc>
                  <a:txBody>
                    <a:bodyPr/>
                    <a:lstStyle/>
                    <a:p>
                      <a:r>
                        <a:rPr sz="1700" b="1" i="0">
                          <a:solidFill>
                            <a:srgbClr val="FFFFFF"/>
                          </a:solidFill>
                          <a:latin typeface="Times New Roman"/>
                          <a:ea typeface="Times New Roman"/>
                          <a:cs typeface="Times New Roman"/>
                        </a:rPr>
                        <a:t>Role</a:t>
                      </a:r>
                    </a:p>
                  </a:txBody>
                  <a:tcPr anchor="ctr">
                    <a:solidFill>
                      <a:srgbClr val="24323E"/>
                    </a:solidFill>
                  </a:tcPr>
                </a:tc>
                <a:tc>
                  <a:txBody>
                    <a:bodyPr/>
                    <a:lstStyle/>
                    <a:p>
                      <a:r>
                        <a:rPr sz="1700" b="1" i="0">
                          <a:solidFill>
                            <a:srgbClr val="FFFFFF"/>
                          </a:solidFill>
                          <a:latin typeface="Times New Roman"/>
                          <a:ea typeface="Times New Roman"/>
                          <a:cs typeface="Times New Roman"/>
                        </a:rPr>
                        <a:t>The owner is responsible for</a:t>
                      </a:r>
                    </a:p>
                  </a:txBody>
                  <a:tcPr anchor="ctr">
                    <a:solidFill>
                      <a:srgbClr val="24323E"/>
                    </a:solidFill>
                  </a:tcPr>
                </a:tc>
                <a:tc>
                  <a:txBody>
                    <a:bodyPr/>
                    <a:lstStyle/>
                    <a:p>
                      <a:r>
                        <a:rPr sz="1700" b="1" i="0">
                          <a:solidFill>
                            <a:srgbClr val="FFFFFF"/>
                          </a:solidFill>
                          <a:latin typeface="Times New Roman"/>
                          <a:ea typeface="Times New Roman"/>
                          <a:cs typeface="Times New Roman"/>
                        </a:rPr>
                        <a:t>Done when</a:t>
                      </a:r>
                    </a:p>
                  </a:txBody>
                  <a:tcPr anchor="ctr">
                    <a:solidFill>
                      <a:srgbClr val="24323E"/>
                    </a:solidFill>
                  </a:tcPr>
                </a:tc>
                <a:tc>
                  <a:txBody>
                    <a:bodyPr/>
                    <a:lstStyle/>
                    <a:p>
                      <a:r>
                        <a:rPr sz="1700" b="1" i="0">
                          <a:solidFill>
                            <a:srgbClr val="FFFFFF"/>
                          </a:solidFill>
                          <a:latin typeface="Times New Roman"/>
                          <a:ea typeface="Times New Roman"/>
                          <a:cs typeface="Times New Roman"/>
                        </a:rPr>
                        <a:t>Grade area</a:t>
                      </a:r>
                    </a:p>
                  </a:txBody>
                  <a:tcPr anchor="ctr">
                    <a:solidFill>
                      <a:srgbClr val="24323E"/>
                    </a:solidFill>
                  </a:tcPr>
                </a:tc>
                <a:extLst>
                  <a:ext uri="{0D108BD9-81ED-4DB2-BD59-A6C34878D82A}">
                    <a16:rowId xmlns:a16="http://schemas.microsoft.com/office/drawing/2014/main" val="10000"/>
                  </a:ext>
                </a:extLst>
              </a:tr>
              <a:tr h="867536">
                <a:tc>
                  <a:txBody>
                    <a:bodyPr/>
                    <a:lstStyle/>
                    <a:p>
                      <a:r>
                        <a:rPr sz="1700" b="1" i="0">
                          <a:solidFill>
                            <a:srgbClr val="24323E"/>
                          </a:solidFill>
                          <a:latin typeface="Times New Roman"/>
                          <a:ea typeface="Times New Roman"/>
                          <a:cs typeface="Times New Roman"/>
                        </a:rPr>
                        <a:t>Cleaning + decision log</a:t>
                      </a:r>
                    </a:p>
                  </a:txBody>
                  <a:tcPr anchor="ctr">
                    <a:solidFill>
                      <a:srgbClr val="FFFFFF"/>
                    </a:solidFill>
                  </a:tcPr>
                </a:tc>
                <a:tc>
                  <a:txBody>
                    <a:bodyPr/>
                    <a:lstStyle/>
                    <a:p>
                      <a:r>
                        <a:rPr sz="1700" b="0" i="0">
                          <a:solidFill>
                            <a:srgbClr val="24323E"/>
                          </a:solidFill>
                          <a:latin typeface="Times New Roman"/>
                          <a:ea typeface="Times New Roman"/>
                          <a:cs typeface="Times New Roman"/>
                        </a:rPr>
                        <a:t>Cleaning functions, the SKU mapping table, and the decision log</a:t>
                      </a:r>
                    </a:p>
                  </a:txBody>
                  <a:tcPr anchor="ctr">
                    <a:solidFill>
                      <a:srgbClr val="FFFFFF"/>
                    </a:solidFill>
                  </a:tcPr>
                </a:tc>
                <a:tc>
                  <a:txBody>
                    <a:bodyPr/>
                    <a:lstStyle/>
                    <a:p>
                      <a:r>
                        <a:rPr sz="1700" b="0" i="0">
                          <a:solidFill>
                            <a:srgbClr val="24323E"/>
                          </a:solidFill>
                          <a:latin typeface="Times New Roman"/>
                          <a:ea typeface="Times New Roman"/>
                          <a:cs typeface="Times New Roman"/>
                        </a:rPr>
                        <a:t>One function turns raw files into clean tables. The log lists every decision and rows touched</a:t>
                      </a:r>
                    </a:p>
                  </a:txBody>
                  <a:tcPr anchor="ctr">
                    <a:solidFill>
                      <a:srgbClr val="FFFFFF"/>
                    </a:solidFill>
                  </a:tcPr>
                </a:tc>
                <a:tc>
                  <a:txBody>
                    <a:bodyPr/>
                    <a:lstStyle/>
                    <a:p>
                      <a:r>
                        <a:rPr sz="1700" b="0" i="0">
                          <a:solidFill>
                            <a:srgbClr val="24323E"/>
                          </a:solidFill>
                          <a:latin typeface="Times New Roman"/>
                          <a:ea typeface="Times New Roman"/>
                          <a:cs typeface="Times New Roman"/>
                        </a:rPr>
                        <a:t>Cleaning, 25%</a:t>
                      </a:r>
                    </a:p>
                  </a:txBody>
                  <a:tcPr anchor="ctr">
                    <a:solidFill>
                      <a:srgbClr val="FFFFFF"/>
                    </a:solidFill>
                  </a:tcPr>
                </a:tc>
                <a:extLst>
                  <a:ext uri="{0D108BD9-81ED-4DB2-BD59-A6C34878D82A}">
                    <a16:rowId xmlns:a16="http://schemas.microsoft.com/office/drawing/2014/main" val="10001"/>
                  </a:ext>
                </a:extLst>
              </a:tr>
              <a:tr h="867536">
                <a:tc>
                  <a:txBody>
                    <a:bodyPr/>
                    <a:lstStyle/>
                    <a:p>
                      <a:r>
                        <a:rPr sz="1700" b="1" i="0">
                          <a:solidFill>
                            <a:srgbClr val="24323E"/>
                          </a:solidFill>
                          <a:latin typeface="Times New Roman"/>
                          <a:ea typeface="Times New Roman"/>
                          <a:cs typeface="Times New Roman"/>
                        </a:rPr>
                        <a:t>Weather API + join</a:t>
                      </a:r>
                    </a:p>
                  </a:txBody>
                  <a:tcPr anchor="ctr">
                    <a:solidFill>
                      <a:srgbClr val="FFF4EB"/>
                    </a:solidFill>
                  </a:tcPr>
                </a:tc>
                <a:tc>
                  <a:txBody>
                    <a:bodyPr/>
                    <a:lstStyle/>
                    <a:p>
                      <a:r>
                        <a:rPr sz="1700" b="0" i="0">
                          <a:solidFill>
                            <a:srgbClr val="24323E"/>
                          </a:solidFill>
                          <a:latin typeface="Times New Roman"/>
                          <a:ea typeface="Times New Roman"/>
                          <a:cs typeface="Times New Roman"/>
                        </a:rPr>
                        <a:t>API call with retries, parsing, timezone alignment, and a checked join to sales</a:t>
                      </a:r>
                    </a:p>
                  </a:txBody>
                  <a:tcPr anchor="ctr">
                    <a:solidFill>
                      <a:srgbClr val="FFF4EB"/>
                    </a:solidFill>
                  </a:tcPr>
                </a:tc>
                <a:tc>
                  <a:txBody>
                    <a:bodyPr/>
                    <a:lstStyle/>
                    <a:p>
                      <a:r>
                        <a:rPr sz="1700" b="0" i="0">
                          <a:solidFill>
                            <a:srgbClr val="24323E"/>
                          </a:solidFill>
                          <a:latin typeface="Times New Roman"/>
                          <a:ea typeface="Times New Roman"/>
                          <a:cs typeface="Times New Roman"/>
                        </a:rPr>
                        <a:t>One function returns daily weather. The join passes a row-count check. Base URL cited</a:t>
                      </a:r>
                    </a:p>
                  </a:txBody>
                  <a:tcPr anchor="ctr">
                    <a:solidFill>
                      <a:srgbClr val="FFF4EB"/>
                    </a:solidFill>
                  </a:tcPr>
                </a:tc>
                <a:tc>
                  <a:txBody>
                    <a:bodyPr/>
                    <a:lstStyle/>
                    <a:p>
                      <a:r>
                        <a:rPr sz="1700" b="0" i="0">
                          <a:solidFill>
                            <a:srgbClr val="24323E"/>
                          </a:solidFill>
                          <a:latin typeface="Times New Roman"/>
                          <a:ea typeface="Times New Roman"/>
                          <a:cs typeface="Times New Roman"/>
                        </a:rPr>
                        <a:t>Weather, 15%</a:t>
                      </a:r>
                    </a:p>
                  </a:txBody>
                  <a:tcPr anchor="ctr">
                    <a:solidFill>
                      <a:srgbClr val="FFF4EB"/>
                    </a:solidFill>
                  </a:tcPr>
                </a:tc>
                <a:extLst>
                  <a:ext uri="{0D108BD9-81ED-4DB2-BD59-A6C34878D82A}">
                    <a16:rowId xmlns:a16="http://schemas.microsoft.com/office/drawing/2014/main" val="10002"/>
                  </a:ext>
                </a:extLst>
              </a:tr>
              <a:tr h="640080">
                <a:tc>
                  <a:txBody>
                    <a:bodyPr/>
                    <a:lstStyle/>
                    <a:p>
                      <a:r>
                        <a:rPr sz="1700" b="1" i="0">
                          <a:solidFill>
                            <a:srgbClr val="24323E"/>
                          </a:solidFill>
                          <a:latin typeface="Times New Roman"/>
                          <a:ea typeface="Times New Roman"/>
                          <a:cs typeface="Times New Roman"/>
                        </a:rPr>
                        <a:t>Analysis Q1-Q5</a:t>
                      </a:r>
                    </a:p>
                  </a:txBody>
                  <a:tcPr anchor="ctr">
                    <a:solidFill>
                      <a:srgbClr val="FFFFFF"/>
                    </a:solidFill>
                  </a:tcPr>
                </a:tc>
                <a:tc>
                  <a:txBody>
                    <a:bodyPr/>
                    <a:lstStyle/>
                    <a:p>
                      <a:r>
                        <a:rPr sz="1700" b="0" i="0">
                          <a:solidFill>
                            <a:srgbClr val="24323E"/>
                          </a:solidFill>
                          <a:latin typeface="Times New Roman"/>
                          <a:ea typeface="Times New Roman"/>
                          <a:cs typeface="Times New Roman"/>
                        </a:rPr>
                        <a:t>The five answers: code, a number, and a written finding each. Q5 uses SQLite</a:t>
                      </a:r>
                    </a:p>
                  </a:txBody>
                  <a:tcPr anchor="ctr">
                    <a:solidFill>
                      <a:srgbClr val="FFFFFF"/>
                    </a:solidFill>
                  </a:tcPr>
                </a:tc>
                <a:tc>
                  <a:txBody>
                    <a:bodyPr/>
                    <a:lstStyle/>
                    <a:p>
                      <a:r>
                        <a:rPr sz="1700" b="0" i="0">
                          <a:solidFill>
                            <a:srgbClr val="24323E"/>
                          </a:solidFill>
                          <a:latin typeface="Times New Roman"/>
                          <a:ea typeface="Times New Roman"/>
                          <a:cs typeface="Times New Roman"/>
                        </a:rPr>
                        <a:t>Every question has code, a number, and a paragraph</a:t>
                      </a:r>
                    </a:p>
                  </a:txBody>
                  <a:tcPr anchor="ctr">
                    <a:solidFill>
                      <a:srgbClr val="FFFFFF"/>
                    </a:solidFill>
                  </a:tcPr>
                </a:tc>
                <a:tc>
                  <a:txBody>
                    <a:bodyPr/>
                    <a:lstStyle/>
                    <a:p>
                      <a:r>
                        <a:rPr sz="1700" b="0" i="0">
                          <a:solidFill>
                            <a:srgbClr val="24323E"/>
                          </a:solidFill>
                          <a:latin typeface="Times New Roman"/>
                          <a:ea typeface="Times New Roman"/>
                          <a:cs typeface="Times New Roman"/>
                        </a:rPr>
                        <a:t>Questions, 30%</a:t>
                      </a:r>
                    </a:p>
                  </a:txBody>
                  <a:tcPr anchor="ctr">
                    <a:solidFill>
                      <a:srgbClr val="FFFFFF"/>
                    </a:solidFill>
                  </a:tcPr>
                </a:tc>
                <a:extLst>
                  <a:ext uri="{0D108BD9-81ED-4DB2-BD59-A6C34878D82A}">
                    <a16:rowId xmlns:a16="http://schemas.microsoft.com/office/drawing/2014/main" val="10003"/>
                  </a:ext>
                </a:extLst>
              </a:tr>
              <a:tr h="640080">
                <a:tc>
                  <a:txBody>
                    <a:bodyPr/>
                    <a:lstStyle/>
                    <a:p>
                      <a:r>
                        <a:rPr sz="1700" b="1" i="0">
                          <a:solidFill>
                            <a:srgbClr val="24323E"/>
                          </a:solidFill>
                          <a:latin typeface="Times New Roman"/>
                          <a:ea typeface="Times New Roman"/>
                          <a:cs typeface="Times New Roman"/>
                        </a:rPr>
                        <a:t>Charts + presentation</a:t>
                      </a:r>
                    </a:p>
                  </a:txBody>
                  <a:tcPr anchor="ctr">
                    <a:solidFill>
                      <a:srgbClr val="FFF4EB"/>
                    </a:solidFill>
                  </a:tcPr>
                </a:tc>
                <a:tc>
                  <a:txBody>
                    <a:bodyPr/>
                    <a:lstStyle/>
                    <a:p>
                      <a:r>
                        <a:rPr sz="1700" b="0" i="0">
                          <a:solidFill>
                            <a:srgbClr val="24323E"/>
                          </a:solidFill>
                          <a:latin typeface="Times New Roman"/>
                          <a:ea typeface="Times New Roman"/>
                          <a:cs typeface="Times New Roman"/>
                        </a:rPr>
                        <a:t>At least six plots with message titles, the six-minute talk, and the README</a:t>
                      </a:r>
                    </a:p>
                  </a:txBody>
                  <a:tcPr anchor="ctr">
                    <a:solidFill>
                      <a:srgbClr val="FFF4EB"/>
                    </a:solidFill>
                  </a:tcPr>
                </a:tc>
                <a:tc>
                  <a:txBody>
                    <a:bodyPr/>
                    <a:lstStyle/>
                    <a:p>
                      <a:r>
                        <a:rPr sz="1700" b="0" i="0">
                          <a:solidFill>
                            <a:srgbClr val="24323E"/>
                          </a:solidFill>
                          <a:latin typeface="Times New Roman"/>
                          <a:ea typeface="Times New Roman"/>
                          <a:cs typeface="Times New Roman"/>
                        </a:rPr>
                        <a:t>Six labeled plots. The talk has been rehearsed once</a:t>
                      </a:r>
                    </a:p>
                  </a:txBody>
                  <a:tcPr anchor="ctr">
                    <a:solidFill>
                      <a:srgbClr val="FFF4EB"/>
                    </a:solidFill>
                  </a:tcPr>
                </a:tc>
                <a:tc>
                  <a:txBody>
                    <a:bodyPr/>
                    <a:lstStyle/>
                    <a:p>
                      <a:r>
                        <a:rPr sz="1700" b="0" i="0">
                          <a:solidFill>
                            <a:srgbClr val="24323E"/>
                          </a:solidFill>
                          <a:latin typeface="Times New Roman"/>
                          <a:ea typeface="Times New Roman"/>
                          <a:cs typeface="Times New Roman"/>
                        </a:rPr>
                        <a:t>Visuals, 15%</a:t>
                      </a:r>
                    </a:p>
                  </a:txBody>
                  <a:tcPr anchor="ctr">
                    <a:solidFill>
                      <a:srgbClr val="FFF4E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3504" y="5577840"/>
            <a:ext cx="10908792" cy="512064"/>
          </a:xfrm>
          <a:prstGeom prst="rect">
            <a:avLst/>
          </a:prstGeom>
          <a:noFill/>
        </p:spPr>
        <p:txBody>
          <a:bodyPr wrap="square" lIns="0" tIns="0" rIns="0" bIns="0" anchor="t">
            <a:noAutofit/>
          </a:bodyPr>
          <a:lstStyle/>
          <a:p>
            <a:pPr algn="l">
              <a:lnSpc>
                <a:spcPct val="105000"/>
              </a:lnSpc>
              <a:spcAft>
                <a:spcPts val="0"/>
              </a:spcAft>
            </a:pPr>
            <a:r>
              <a:rPr sz="1800" b="0" i="0">
                <a:solidFill>
                  <a:srgbClr val="24323E"/>
                </a:solidFill>
                <a:latin typeface="Times New Roman"/>
                <a:ea typeface="Times New Roman"/>
                <a:cs typeface="Times New Roman"/>
              </a:rPr>
              <a:t>The owner is who we ask. The backup steps in when the owner can't.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Fewer than </a:t>
            </a:r>
            <a:r>
              <a:rPr sz="3788" b="0" i="0">
                <a:solidFill>
                  <a:srgbClr val="F67132"/>
                </a:solidFill>
                <a:latin typeface="Times New Roman"/>
                <a:ea typeface="Times New Roman"/>
                <a:cs typeface="Times New Roman"/>
              </a:rPr>
              <a:t>four people</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18</a:t>
            </a:r>
          </a:p>
        </p:txBody>
      </p:sp>
      <p:graphicFrame>
        <p:nvGraphicFramePr>
          <p:cNvPr id="4" name="Table 3"/>
          <p:cNvGraphicFramePr>
            <a:graphicFrameLocks noGrp="1"/>
          </p:cNvGraphicFramePr>
          <p:nvPr/>
        </p:nvGraphicFramePr>
        <p:xfrm>
          <a:off x="603504" y="1289304"/>
          <a:ext cx="10954512" cy="2651758"/>
        </p:xfrm>
        <a:graphic>
          <a:graphicData uri="http://schemas.openxmlformats.org/drawingml/2006/table">
            <a:tbl>
              <a:tblPr/>
              <a:tblGrid>
                <a:gridCol w="1828800">
                  <a:extLst>
                    <a:ext uri="{9D8B030D-6E8A-4147-A177-3AD203B41FA5}">
                      <a16:colId xmlns:a16="http://schemas.microsoft.com/office/drawing/2014/main" val="20000"/>
                    </a:ext>
                  </a:extLst>
                </a:gridCol>
                <a:gridCol w="9125712">
                  <a:extLst>
                    <a:ext uri="{9D8B030D-6E8A-4147-A177-3AD203B41FA5}">
                      <a16:colId xmlns:a16="http://schemas.microsoft.com/office/drawing/2014/main" val="20001"/>
                    </a:ext>
                  </a:extLst>
                </a:gridCol>
              </a:tblGrid>
              <a:tr h="621792">
                <a:tc>
                  <a:txBody>
                    <a:bodyPr/>
                    <a:lstStyle/>
                    <a:p>
                      <a:r>
                        <a:rPr sz="2000" b="1" i="0">
                          <a:solidFill>
                            <a:srgbClr val="FFFFFF"/>
                          </a:solidFill>
                          <a:latin typeface="Times New Roman"/>
                          <a:ea typeface="Times New Roman"/>
                          <a:cs typeface="Times New Roman"/>
                        </a:rPr>
                        <a:t>Team of</a:t>
                      </a:r>
                    </a:p>
                  </a:txBody>
                  <a:tcPr anchor="ctr">
                    <a:solidFill>
                      <a:srgbClr val="24323E"/>
                    </a:solidFill>
                  </a:tcPr>
                </a:tc>
                <a:tc>
                  <a:txBody>
                    <a:bodyPr/>
                    <a:lstStyle/>
                    <a:p>
                      <a:r>
                        <a:rPr sz="2000" b="1" i="0">
                          <a:solidFill>
                            <a:srgbClr val="FFFFFF"/>
                          </a:solidFill>
                          <a:latin typeface="Times New Roman"/>
                          <a:ea typeface="Times New Roman"/>
                          <a:cs typeface="Times New Roman"/>
                        </a:rPr>
                        <a:t>How to split it</a:t>
                      </a:r>
                    </a:p>
                  </a:txBody>
                  <a:tcPr anchor="ctr">
                    <a:solidFill>
                      <a:srgbClr val="24323E"/>
                    </a:solidFill>
                  </a:tcPr>
                </a:tc>
                <a:extLst>
                  <a:ext uri="{0D108BD9-81ED-4DB2-BD59-A6C34878D82A}">
                    <a16:rowId xmlns:a16="http://schemas.microsoft.com/office/drawing/2014/main" val="10000"/>
                  </a:ext>
                </a:extLst>
              </a:tr>
              <a:tr h="704087">
                <a:tc>
                  <a:txBody>
                    <a:bodyPr/>
                    <a:lstStyle/>
                    <a:p>
                      <a:r>
                        <a:rPr sz="2000" b="1" i="0">
                          <a:solidFill>
                            <a:srgbClr val="24323E"/>
                          </a:solidFill>
                          <a:latin typeface="Times New Roman"/>
                          <a:ea typeface="Times New Roman"/>
                          <a:cs typeface="Times New Roman"/>
                        </a:rPr>
                        <a:t>2</a:t>
                      </a:r>
                    </a:p>
                  </a:txBody>
                  <a:tcPr anchor="ctr">
                    <a:solidFill>
                      <a:srgbClr val="FFFFFF"/>
                    </a:solidFill>
                  </a:tcPr>
                </a:tc>
                <a:tc>
                  <a:txBody>
                    <a:bodyPr/>
                    <a:lstStyle/>
                    <a:p>
                      <a:r>
                        <a:rPr sz="2000" b="0" i="0">
                          <a:solidFill>
                            <a:srgbClr val="24323E"/>
                          </a:solidFill>
                          <a:latin typeface="Times New Roman"/>
                          <a:ea typeface="Times New Roman"/>
                          <a:cs typeface="Times New Roman"/>
                        </a:rPr>
                        <a:t>One person owns cleaning and the decision log. The other owns the weather API and the join. Split the five questions, and both build charts.</a:t>
                      </a:r>
                    </a:p>
                  </a:txBody>
                  <a:tcPr anchor="ctr">
                    <a:solidFill>
                      <a:srgbClr val="FFFFFF"/>
                    </a:solidFill>
                  </a:tcPr>
                </a:tc>
                <a:extLst>
                  <a:ext uri="{0D108BD9-81ED-4DB2-BD59-A6C34878D82A}">
                    <a16:rowId xmlns:a16="http://schemas.microsoft.com/office/drawing/2014/main" val="10001"/>
                  </a:ext>
                </a:extLst>
              </a:tr>
              <a:tr h="704087">
                <a:tc>
                  <a:txBody>
                    <a:bodyPr/>
                    <a:lstStyle/>
                    <a:p>
                      <a:r>
                        <a:rPr sz="2000" b="1" i="0">
                          <a:solidFill>
                            <a:srgbClr val="24323E"/>
                          </a:solidFill>
                          <a:latin typeface="Times New Roman"/>
                          <a:ea typeface="Times New Roman"/>
                          <a:cs typeface="Times New Roman"/>
                        </a:rPr>
                        <a:t>3</a:t>
                      </a:r>
                    </a:p>
                  </a:txBody>
                  <a:tcPr anchor="ctr">
                    <a:solidFill>
                      <a:srgbClr val="FFF4EB"/>
                    </a:solidFill>
                  </a:tcPr>
                </a:tc>
                <a:tc>
                  <a:txBody>
                    <a:bodyPr/>
                    <a:lstStyle/>
                    <a:p>
                      <a:r>
                        <a:rPr sz="2000" b="0" i="0">
                          <a:solidFill>
                            <a:srgbClr val="24323E"/>
                          </a:solidFill>
                          <a:latin typeface="Times New Roman"/>
                          <a:ea typeface="Times New Roman"/>
                          <a:cs typeface="Times New Roman"/>
                        </a:rPr>
                        <a:t>One person each for cleaning, weather, and analysis. Charts and the presentation are shared.</a:t>
                      </a:r>
                    </a:p>
                  </a:txBody>
                  <a:tcPr anchor="ctr">
                    <a:solidFill>
                      <a:srgbClr val="FFF4EB"/>
                    </a:solidFill>
                  </a:tcPr>
                </a:tc>
                <a:extLst>
                  <a:ext uri="{0D108BD9-81ED-4DB2-BD59-A6C34878D82A}">
                    <a16:rowId xmlns:a16="http://schemas.microsoft.com/office/drawing/2014/main" val="10002"/>
                  </a:ext>
                </a:extLst>
              </a:tr>
              <a:tr h="621792">
                <a:tc>
                  <a:txBody>
                    <a:bodyPr/>
                    <a:lstStyle/>
                    <a:p>
                      <a:r>
                        <a:rPr sz="2000" b="1" i="0">
                          <a:solidFill>
                            <a:srgbClr val="24323E"/>
                          </a:solidFill>
                          <a:latin typeface="Times New Roman"/>
                          <a:ea typeface="Times New Roman"/>
                          <a:cs typeface="Times New Roman"/>
                        </a:rPr>
                        <a:t>4</a:t>
                      </a:r>
                    </a:p>
                  </a:txBody>
                  <a:tcPr anchor="ctr">
                    <a:solidFill>
                      <a:srgbClr val="FFFFFF"/>
                    </a:solidFill>
                  </a:tcPr>
                </a:tc>
                <a:tc>
                  <a:txBody>
                    <a:bodyPr/>
                    <a:lstStyle/>
                    <a:p>
                      <a:r>
                        <a:rPr sz="2000" b="0" i="0">
                          <a:solidFill>
                            <a:srgbClr val="24323E"/>
                          </a:solidFill>
                          <a:latin typeface="Times New Roman"/>
                          <a:ea typeface="Times New Roman"/>
                          <a:cs typeface="Times New Roman"/>
                        </a:rPr>
                        <a:t>One owner per job. Everyone takes at least one question.</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3504" y="429768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Notebook owner</a:t>
            </a:r>
          </a:p>
        </p:txBody>
      </p:sp>
      <p:sp>
        <p:nvSpPr>
          <p:cNvPr id="6" name="TextBox 5"/>
          <p:cNvSpPr txBox="1"/>
          <p:nvPr/>
        </p:nvSpPr>
        <p:spPr>
          <a:xfrm>
            <a:off x="603504" y="4745736"/>
            <a:ext cx="5125212" cy="1371600"/>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One person per week puts finished work into the shared notebook and runs Restart and Run All. It rotates.</a:t>
            </a:r>
          </a:p>
        </p:txBody>
      </p:sp>
      <p:sp>
        <p:nvSpPr>
          <p:cNvPr id="7" name="TextBox 6"/>
          <p:cNvSpPr txBox="1"/>
          <p:nvPr/>
        </p:nvSpPr>
        <p:spPr>
          <a:xfrm>
            <a:off x="6387083" y="429768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Everyone</a:t>
            </a:r>
          </a:p>
        </p:txBody>
      </p:sp>
      <p:sp>
        <p:nvSpPr>
          <p:cNvPr id="8" name="TextBox 7"/>
          <p:cNvSpPr txBox="1"/>
          <p:nvPr/>
        </p:nvSpPr>
        <p:spPr>
          <a:xfrm>
            <a:off x="6387083" y="4745736"/>
            <a:ext cx="5125212" cy="1371600"/>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Reads all five questions, reviews at least one other person's code, and writes their own part of the reflection.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Charter, part 3: </a:t>
            </a:r>
            <a:r>
              <a:rPr sz="3788" b="0" i="0">
                <a:solidFill>
                  <a:srgbClr val="F67132"/>
                </a:solidFill>
                <a:latin typeface="Times New Roman"/>
                <a:ea typeface="Times New Roman"/>
                <a:cs typeface="Times New Roman"/>
              </a:rPr>
              <a:t>question owners</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19</a:t>
            </a:r>
          </a:p>
        </p:txBody>
      </p:sp>
      <p:sp>
        <p:nvSpPr>
          <p:cNvPr id="4" name="TextBox 3"/>
          <p:cNvSpPr txBox="1"/>
          <p:nvPr/>
        </p:nvSpPr>
        <p:spPr>
          <a:xfrm>
            <a:off x="603504" y="1307592"/>
            <a:ext cx="10671048" cy="1097280"/>
          </a:xfrm>
          <a:prstGeom prst="rect">
            <a:avLst/>
          </a:prstGeom>
          <a:noFill/>
        </p:spPr>
        <p:txBody>
          <a:bodyPr wrap="square" lIns="0" tIns="0" rIns="0" bIns="0" anchor="t">
            <a:noAutofit/>
          </a:bodyPr>
          <a:lstStyle/>
          <a:p>
            <a:pPr algn="l">
              <a:lnSpc>
                <a:spcPct val="105000"/>
              </a:lnSpc>
              <a:spcAft>
                <a:spcPts val="0"/>
              </a:spcAft>
            </a:pPr>
            <a:r>
              <a:rPr sz="3300" b="1" i="0">
                <a:solidFill>
                  <a:srgbClr val="24323E"/>
                </a:solidFill>
                <a:latin typeface="Times New Roman"/>
                <a:ea typeface="Times New Roman"/>
                <a:cs typeface="Times New Roman"/>
              </a:rPr>
              <a:t>Every question gets an owner</a:t>
            </a:r>
          </a:p>
          <a:p>
            <a:pPr algn="l">
              <a:lnSpc>
                <a:spcPct val="105000"/>
              </a:lnSpc>
              <a:spcAft>
                <a:spcPts val="0"/>
              </a:spcAft>
            </a:pPr>
            <a:r>
              <a:rPr sz="3300" b="1" i="0">
                <a:solidFill>
                  <a:srgbClr val="24323E"/>
                </a:solidFill>
                <a:latin typeface="Times New Roman"/>
                <a:ea typeface="Times New Roman"/>
                <a:cs typeface="Times New Roman"/>
              </a:rPr>
              <a:t>and a reviewer.</a:t>
            </a:r>
          </a:p>
        </p:txBody>
      </p:sp>
      <p:sp>
        <p:nvSpPr>
          <p:cNvPr id="5" name="TextBox 4"/>
          <p:cNvSpPr txBox="1"/>
          <p:nvPr/>
        </p:nvSpPr>
        <p:spPr>
          <a:xfrm>
            <a:off x="603504" y="2916936"/>
            <a:ext cx="4809744"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The owner</a:t>
            </a:r>
          </a:p>
        </p:txBody>
      </p:sp>
      <p:sp>
        <p:nvSpPr>
          <p:cNvPr id="6" name="TextBox 5"/>
          <p:cNvSpPr txBox="1"/>
          <p:nvPr/>
        </p:nvSpPr>
        <p:spPr>
          <a:xfrm>
            <a:off x="603504" y="3364992"/>
            <a:ext cx="4809744" cy="164592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Writes the answer: the code, the number, the chart, and a written finding.</a:t>
            </a:r>
          </a:p>
        </p:txBody>
      </p:sp>
      <p:sp>
        <p:nvSpPr>
          <p:cNvPr id="7" name="TextBox 6"/>
          <p:cNvSpPr txBox="1"/>
          <p:nvPr/>
        </p:nvSpPr>
        <p:spPr>
          <a:xfrm>
            <a:off x="6382512" y="2916936"/>
            <a:ext cx="4809744"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The reviewer</a:t>
            </a:r>
          </a:p>
        </p:txBody>
      </p:sp>
      <p:sp>
        <p:nvSpPr>
          <p:cNvPr id="8" name="TextBox 7"/>
          <p:cNvSpPr txBox="1"/>
          <p:nvPr/>
        </p:nvSpPr>
        <p:spPr>
          <a:xfrm>
            <a:off x="6382512" y="3364992"/>
            <a:ext cx="4809744"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Someone else, who tries to break it. Is the baseline stated? Does the row count check out? Does the chart say what its title says?</a:t>
            </a:r>
          </a:p>
        </p:txBody>
      </p:sp>
      <p:sp>
        <p:nvSpPr>
          <p:cNvPr id="9" name="TextBox 8"/>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Q1 and Q3 are the critical path. Get those two moving first.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Charter, part 4: </a:t>
            </a:r>
            <a:r>
              <a:rPr sz="3788" b="0" i="0">
                <a:solidFill>
                  <a:srgbClr val="F67132"/>
                </a:solidFill>
                <a:latin typeface="Times New Roman"/>
                <a:ea typeface="Times New Roman"/>
                <a:cs typeface="Times New Roman"/>
              </a:rPr>
              <a:t>how we work</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20</a:t>
            </a:r>
          </a:p>
        </p:txBody>
      </p:sp>
      <p:sp>
        <p:nvSpPr>
          <p:cNvPr id="4" name="TextBox 3"/>
          <p:cNvSpPr txBox="1"/>
          <p:nvPr/>
        </p:nvSpPr>
        <p:spPr>
          <a:xfrm>
            <a:off x="603504" y="132588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Where we talk</a:t>
            </a:r>
          </a:p>
        </p:txBody>
      </p:sp>
      <p:sp>
        <p:nvSpPr>
          <p:cNvPr id="5" name="TextBox 4"/>
          <p:cNvSpPr txBox="1"/>
          <p:nvPr/>
        </p:nvSpPr>
        <p:spPr>
          <a:xfrm>
            <a:off x="603504" y="1773936"/>
            <a:ext cx="5125212"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Name the channel and how fast you answer. "Within a day" is a real answer. "Whenever" is not.</a:t>
            </a:r>
          </a:p>
        </p:txBody>
      </p:sp>
      <p:sp>
        <p:nvSpPr>
          <p:cNvPr id="6" name="TextBox 5"/>
          <p:cNvSpPr txBox="1"/>
          <p:nvPr/>
        </p:nvSpPr>
        <p:spPr>
          <a:xfrm>
            <a:off x="6387083" y="132588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When we meet</a:t>
            </a:r>
          </a:p>
        </p:txBody>
      </p:sp>
      <p:sp>
        <p:nvSpPr>
          <p:cNvPr id="7" name="TextBox 6"/>
          <p:cNvSpPr txBox="1"/>
          <p:nvPr/>
        </p:nvSpPr>
        <p:spPr>
          <a:xfrm>
            <a:off x="6387083" y="1773936"/>
            <a:ext cx="5125212"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A recurring slot outside class, on everyone's calendar. "We'll text" is not a meeting time.</a:t>
            </a:r>
          </a:p>
        </p:txBody>
      </p:sp>
      <p:sp>
        <p:nvSpPr>
          <p:cNvPr id="8" name="TextBox 7"/>
          <p:cNvSpPr txBox="1"/>
          <p:nvPr/>
        </p:nvSpPr>
        <p:spPr>
          <a:xfrm>
            <a:off x="603504" y="356616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How we decide</a:t>
            </a:r>
          </a:p>
        </p:txBody>
      </p:sp>
      <p:sp>
        <p:nvSpPr>
          <p:cNvPr id="9" name="TextBox 8"/>
          <p:cNvSpPr txBox="1"/>
          <p:nvPr/>
        </p:nvSpPr>
        <p:spPr>
          <a:xfrm>
            <a:off x="603504" y="4014215"/>
            <a:ext cx="5125212" cy="182880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Look at the data first. If you're still stuck, the owner of that part decides, and it goes in the decision log with the reason.</a:t>
            </a:r>
          </a:p>
        </p:txBody>
      </p:sp>
      <p:sp>
        <p:nvSpPr>
          <p:cNvPr id="10" name="TextBox 9"/>
          <p:cNvSpPr txBox="1"/>
          <p:nvPr/>
        </p:nvSpPr>
        <p:spPr>
          <a:xfrm>
            <a:off x="6387083" y="3566160"/>
            <a:ext cx="5125212"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If someone goes quiet</a:t>
            </a:r>
          </a:p>
        </p:txBody>
      </p:sp>
      <p:sp>
        <p:nvSpPr>
          <p:cNvPr id="11" name="TextBox 10"/>
          <p:cNvSpPr txBox="1"/>
          <p:nvPr/>
        </p:nvSpPr>
        <p:spPr>
          <a:xfrm>
            <a:off x="6387083" y="4014215"/>
            <a:ext cx="5125212" cy="182880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Check in after a day. After two, bring it to the whole team. Still stuck, email me. Don't wait until it's due.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Set up the </a:t>
            </a:r>
            <a:r>
              <a:rPr sz="3788" b="0" i="0">
                <a:solidFill>
                  <a:srgbClr val="F67132"/>
                </a:solidFill>
                <a:latin typeface="Times New Roman"/>
                <a:ea typeface="Times New Roman"/>
                <a:cs typeface="Times New Roman"/>
              </a:rPr>
              <a:t>repository</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21</a:t>
            </a:r>
          </a:p>
        </p:txBody>
      </p:sp>
      <p:sp>
        <p:nvSpPr>
          <p:cNvPr id="4" name="Rectangle 3"/>
          <p:cNvSpPr/>
          <p:nvPr/>
        </p:nvSpPr>
        <p:spPr>
          <a:xfrm>
            <a:off x="603504" y="1197864"/>
            <a:ext cx="6492240" cy="2514600"/>
          </a:xfrm>
          <a:prstGeom prst="rect">
            <a:avLst/>
          </a:prstGeom>
          <a:solidFill>
            <a:srgbClr val="FFF7F1"/>
          </a:solidFill>
          <a:ln w="7620">
            <a:solidFill>
              <a:srgbClr val="E6D5CA"/>
            </a:solidFill>
          </a:ln>
          <a:effectLst/>
        </p:spPr>
        <p:style>
          <a:lnRef idx="1">
            <a:schemeClr val="accent1"/>
          </a:lnRef>
          <a:fillRef idx="3">
            <a:schemeClr val="accent1"/>
          </a:fillRef>
          <a:effectRef idx="2">
            <a:schemeClr val="accent1"/>
          </a:effectRef>
          <a:fontRef idx="minor">
            <a:schemeClr val="lt1"/>
          </a:fontRef>
        </p:style>
        <p:txBody>
          <a:bodyPr wrap="none" lIns="133350" tIns="114300" rIns="133350" bIns="114300" rtlCol="0" anchor="t"/>
          <a:lstStyle/>
          <a:p>
            <a:pPr algn="l">
              <a:spcBef>
                <a:spcPts val="0"/>
              </a:spcBef>
              <a:spcAft>
                <a:spcPts val="0"/>
              </a:spcAft>
            </a:pPr>
            <a:r>
              <a:rPr sz="1739" b="0" i="0">
                <a:solidFill>
                  <a:srgbClr val="24323E"/>
                </a:solidFill>
                <a:latin typeface="Courier New"/>
                <a:ea typeface="Courier New"/>
                <a:cs typeface="Courier New"/>
              </a:rPr>
              <a:t>walmart-hurricane-project/</a:t>
            </a:r>
          </a:p>
          <a:p>
            <a:pPr algn="l">
              <a:spcBef>
                <a:spcPts val="0"/>
              </a:spcBef>
              <a:spcAft>
                <a:spcPts val="0"/>
              </a:spcAft>
            </a:pPr>
            <a:r>
              <a:rPr sz="1739" b="0" i="0">
                <a:solidFill>
                  <a:srgbClr val="24323E"/>
                </a:solidFill>
                <a:latin typeface="Courier New"/>
                <a:ea typeface="Courier New"/>
                <a:cs typeface="Courier New"/>
              </a:rPr>
              <a:t>|-- CHARTER.md</a:t>
            </a:r>
          </a:p>
          <a:p>
            <a:pPr algn="l">
              <a:spcBef>
                <a:spcPts val="0"/>
              </a:spcBef>
              <a:spcAft>
                <a:spcPts val="0"/>
              </a:spcAft>
            </a:pPr>
            <a:r>
              <a:rPr sz="1739" b="0" i="0">
                <a:solidFill>
                  <a:srgbClr val="24323E"/>
                </a:solidFill>
                <a:latin typeface="Courier New"/>
                <a:ea typeface="Courier New"/>
                <a:cs typeface="Courier New"/>
              </a:rPr>
              <a:t>|-- README.md</a:t>
            </a:r>
          </a:p>
          <a:p>
            <a:pPr algn="l">
              <a:spcBef>
                <a:spcPts val="0"/>
              </a:spcBef>
              <a:spcAft>
                <a:spcPts val="0"/>
              </a:spcAft>
            </a:pPr>
            <a:r>
              <a:rPr sz="1739" b="0" i="0">
                <a:solidFill>
                  <a:srgbClr val="24323E"/>
                </a:solidFill>
                <a:latin typeface="Courier New"/>
                <a:ea typeface="Courier New"/>
                <a:cs typeface="Courier New"/>
              </a:rPr>
              <a:t>|-- data/</a:t>
            </a:r>
            <a:r>
              <a:rPr sz="1739" b="0" i="0">
                <a:solidFill>
                  <a:srgbClr val="21688D"/>
                </a:solidFill>
                <a:latin typeface="Courier New"/>
                <a:ea typeface="Courier New"/>
                <a:cs typeface="Courier New"/>
              </a:rPr>
              <a:t>          five data files</a:t>
            </a:r>
          </a:p>
          <a:p>
            <a:pPr algn="l">
              <a:spcBef>
                <a:spcPts val="0"/>
              </a:spcBef>
              <a:spcAft>
                <a:spcPts val="0"/>
              </a:spcAft>
            </a:pPr>
            <a:r>
              <a:rPr sz="1739" b="0" i="0">
                <a:solidFill>
                  <a:srgbClr val="24323E"/>
                </a:solidFill>
                <a:latin typeface="Courier New"/>
                <a:ea typeface="Courier New"/>
                <a:cs typeface="Courier New"/>
              </a:rPr>
              <a:t>`-- notebooks/</a:t>
            </a:r>
          </a:p>
          <a:p>
            <a:pPr algn="l">
              <a:spcBef>
                <a:spcPts val="0"/>
              </a:spcBef>
              <a:spcAft>
                <a:spcPts val="0"/>
              </a:spcAft>
            </a:pPr>
            <a:r>
              <a:rPr sz="1739" b="0" i="0">
                <a:solidFill>
                  <a:srgbClr val="24323E"/>
                </a:solidFill>
                <a:latin typeface="Courier New"/>
                <a:ea typeface="Courier New"/>
                <a:cs typeface="Courier New"/>
              </a:rPr>
              <a:t>    |-- team_notebook.ipynb</a:t>
            </a:r>
            <a:r>
              <a:rPr sz="1739" b="0" i="0">
                <a:solidFill>
                  <a:srgbClr val="21688D"/>
                </a:solidFill>
                <a:latin typeface="Courier New"/>
                <a:ea typeface="Courier New"/>
                <a:cs typeface="Courier New"/>
              </a:rPr>
              <a:t>  the deliverable</a:t>
            </a:r>
          </a:p>
          <a:p>
            <a:pPr algn="l">
              <a:spcBef>
                <a:spcPts val="0"/>
              </a:spcBef>
              <a:spcAft>
                <a:spcPts val="0"/>
              </a:spcAft>
            </a:pPr>
            <a:r>
              <a:rPr sz="1739" b="0" i="0">
                <a:solidFill>
                  <a:srgbClr val="24323E"/>
                </a:solidFill>
                <a:latin typeface="Courier New"/>
                <a:ea typeface="Courier New"/>
                <a:cs typeface="Courier New"/>
              </a:rPr>
              <a:t>    `-- scratch/</a:t>
            </a:r>
            <a:r>
              <a:rPr sz="1739" b="0" i="0">
                <a:solidFill>
                  <a:srgbClr val="21688D"/>
                </a:solidFill>
                <a:latin typeface="Courier New"/>
                <a:ea typeface="Courier New"/>
                <a:cs typeface="Courier New"/>
              </a:rPr>
              <a:t>        your own notebooks</a:t>
            </a:r>
          </a:p>
        </p:txBody>
      </p:sp>
      <p:sp>
        <p:nvSpPr>
          <p:cNvPr id="5" name="TextBox 4"/>
          <p:cNvSpPr txBox="1"/>
          <p:nvPr/>
        </p:nvSpPr>
        <p:spPr>
          <a:xfrm>
            <a:off x="7406640" y="1325880"/>
            <a:ext cx="4114800"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One notebook owner</a:t>
            </a:r>
          </a:p>
        </p:txBody>
      </p:sp>
      <p:sp>
        <p:nvSpPr>
          <p:cNvPr id="6" name="TextBox 5"/>
          <p:cNvSpPr txBox="1"/>
          <p:nvPr/>
        </p:nvSpPr>
        <p:spPr>
          <a:xfrm>
            <a:off x="7406640" y="1755648"/>
            <a:ext cx="4114800" cy="822960"/>
          </a:xfrm>
          <a:prstGeom prst="rect">
            <a:avLst/>
          </a:prstGeom>
          <a:noFill/>
        </p:spPr>
        <p:txBody>
          <a:bodyPr wrap="square" lIns="0" tIns="0" rIns="0" bIns="0" anchor="t">
            <a:noAutofit/>
          </a:bodyPr>
          <a:lstStyle/>
          <a:p>
            <a:pPr algn="l">
              <a:lnSpc>
                <a:spcPct val="105000"/>
              </a:lnSpc>
              <a:spcAft>
                <a:spcPts val="0"/>
              </a:spcAft>
            </a:pPr>
            <a:r>
              <a:rPr sz="1900" b="0" i="0">
                <a:solidFill>
                  <a:srgbClr val="24323E"/>
                </a:solidFill>
                <a:latin typeface="Times New Roman"/>
                <a:ea typeface="Times New Roman"/>
                <a:cs typeface="Times New Roman"/>
              </a:rPr>
              <a:t>Only that person commits to team_notebook.ipynb each week.</a:t>
            </a:r>
          </a:p>
        </p:txBody>
      </p:sp>
      <p:sp>
        <p:nvSpPr>
          <p:cNvPr id="7" name="TextBox 6"/>
          <p:cNvSpPr txBox="1"/>
          <p:nvPr/>
        </p:nvSpPr>
        <p:spPr>
          <a:xfrm>
            <a:off x="7406640" y="2697480"/>
            <a:ext cx="4114800"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Everyone else</a:t>
            </a:r>
          </a:p>
        </p:txBody>
      </p:sp>
      <p:sp>
        <p:nvSpPr>
          <p:cNvPr id="8" name="TextBox 7"/>
          <p:cNvSpPr txBox="1"/>
          <p:nvPr/>
        </p:nvSpPr>
        <p:spPr>
          <a:xfrm>
            <a:off x="7406640" y="3127248"/>
            <a:ext cx="4114800" cy="822960"/>
          </a:xfrm>
          <a:prstGeom prst="rect">
            <a:avLst/>
          </a:prstGeom>
          <a:noFill/>
        </p:spPr>
        <p:txBody>
          <a:bodyPr wrap="square" lIns="0" tIns="0" rIns="0" bIns="0" anchor="t">
            <a:noAutofit/>
          </a:bodyPr>
          <a:lstStyle/>
          <a:p>
            <a:pPr algn="l">
              <a:lnSpc>
                <a:spcPct val="105000"/>
              </a:lnSpc>
              <a:spcAft>
                <a:spcPts val="0"/>
              </a:spcAft>
            </a:pPr>
            <a:r>
              <a:rPr sz="1900" b="0" i="0">
                <a:solidFill>
                  <a:srgbClr val="24323E"/>
                </a:solidFill>
                <a:latin typeface="Times New Roman"/>
                <a:ea typeface="Times New Roman"/>
                <a:cs typeface="Times New Roman"/>
              </a:rPr>
              <a:t>Works in scratch/ and hands over finished functions.</a:t>
            </a:r>
          </a:p>
        </p:txBody>
      </p:sp>
      <p:sp>
        <p:nvSpPr>
          <p:cNvPr id="9" name="TextBox 8"/>
          <p:cNvSpPr txBox="1"/>
          <p:nvPr/>
        </p:nvSpPr>
        <p:spPr>
          <a:xfrm>
            <a:off x="7406640" y="4069080"/>
            <a:ext cx="4114800"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Pull, then push</a:t>
            </a:r>
          </a:p>
        </p:txBody>
      </p:sp>
      <p:sp>
        <p:nvSpPr>
          <p:cNvPr id="10" name="TextBox 9"/>
          <p:cNvSpPr txBox="1"/>
          <p:nvPr/>
        </p:nvSpPr>
        <p:spPr>
          <a:xfrm>
            <a:off x="7406640" y="4498848"/>
            <a:ext cx="4114800" cy="822960"/>
          </a:xfrm>
          <a:prstGeom prst="rect">
            <a:avLst/>
          </a:prstGeom>
          <a:noFill/>
        </p:spPr>
        <p:txBody>
          <a:bodyPr wrap="square" lIns="0" tIns="0" rIns="0" bIns="0" anchor="t">
            <a:noAutofit/>
          </a:bodyPr>
          <a:lstStyle/>
          <a:p>
            <a:pPr algn="l">
              <a:lnSpc>
                <a:spcPct val="105000"/>
              </a:lnSpc>
              <a:spcAft>
                <a:spcPts val="0"/>
              </a:spcAft>
            </a:pPr>
            <a:r>
              <a:rPr sz="1900" b="0" i="0">
                <a:solidFill>
                  <a:srgbClr val="24323E"/>
                </a:solidFill>
                <a:latin typeface="Times New Roman"/>
                <a:ea typeface="Times New Roman"/>
                <a:cs typeface="Times New Roman"/>
              </a:rPr>
              <a:t>Pull before you start. Push before you stop.</a:t>
            </a:r>
          </a:p>
        </p:txBody>
      </p:sp>
      <p:sp>
        <p:nvSpPr>
          <p:cNvPr id="11" name="TextBox 10"/>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No keys or tokens in the repo. Open-Meteo needs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dirty="0">
                <a:solidFill>
                  <a:srgbClr val="24323E"/>
                </a:solidFill>
                <a:latin typeface="Times New Roman"/>
                <a:ea typeface="Times New Roman"/>
                <a:cs typeface="Times New Roman"/>
              </a:rPr>
              <a:t>Before you </a:t>
            </a:r>
            <a:r>
              <a:rPr lang="en-US" sz="3788" dirty="0">
                <a:solidFill>
                  <a:srgbClr val="F67132"/>
                </a:solidFill>
              </a:rPr>
              <a:t>Wednesday Class</a:t>
            </a:r>
            <a:endParaRPr sz="3788" b="0" i="0" dirty="0">
              <a:solidFill>
                <a:srgbClr val="F67132"/>
              </a:solidFill>
              <a:latin typeface="Times New Roman"/>
              <a:ea typeface="Times New Roman"/>
              <a:cs typeface="Times New Roman"/>
            </a:endParaRP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22</a:t>
            </a:r>
          </a:p>
        </p:txBody>
      </p:sp>
      <p:sp>
        <p:nvSpPr>
          <p:cNvPr id="4" name="TextBox 3"/>
          <p:cNvSpPr txBox="1"/>
          <p:nvPr/>
        </p:nvSpPr>
        <p:spPr>
          <a:xfrm>
            <a:off x="603504" y="1280160"/>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01</a:t>
            </a:r>
          </a:p>
        </p:txBody>
      </p:sp>
      <p:sp>
        <p:nvSpPr>
          <p:cNvPr id="5" name="TextBox 4"/>
          <p:cNvSpPr txBox="1"/>
          <p:nvPr/>
        </p:nvSpPr>
        <p:spPr>
          <a:xfrm>
            <a:off x="1481328" y="1316736"/>
            <a:ext cx="9966960" cy="548640"/>
          </a:xfrm>
          <a:prstGeom prst="rect">
            <a:avLst/>
          </a:prstGeom>
          <a:noFill/>
        </p:spPr>
        <p:txBody>
          <a:bodyPr wrap="square" lIns="0" tIns="0" rIns="0" bIns="0" anchor="t">
            <a:noAutofit/>
          </a:bodyPr>
          <a:lstStyle/>
          <a:p>
            <a:pPr algn="l">
              <a:lnSpc>
                <a:spcPct val="105000"/>
              </a:lnSpc>
              <a:spcAft>
                <a:spcPts val="0"/>
              </a:spcAft>
            </a:pPr>
            <a:r>
              <a:rPr sz="2400" b="0" i="0">
                <a:solidFill>
                  <a:srgbClr val="24323E"/>
                </a:solidFill>
                <a:latin typeface="Times New Roman"/>
                <a:ea typeface="Times New Roman"/>
                <a:cs typeface="Times New Roman"/>
              </a:rPr>
              <a:t>Roster filled in and the charter cell runs clean</a:t>
            </a:r>
          </a:p>
        </p:txBody>
      </p:sp>
      <p:sp>
        <p:nvSpPr>
          <p:cNvPr id="6" name="TextBox 5"/>
          <p:cNvSpPr txBox="1"/>
          <p:nvPr/>
        </p:nvSpPr>
        <p:spPr>
          <a:xfrm>
            <a:off x="603504" y="1993391"/>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02</a:t>
            </a:r>
          </a:p>
        </p:txBody>
      </p:sp>
      <p:sp>
        <p:nvSpPr>
          <p:cNvPr id="7" name="TextBox 6"/>
          <p:cNvSpPr txBox="1"/>
          <p:nvPr/>
        </p:nvSpPr>
        <p:spPr>
          <a:xfrm>
            <a:off x="1481328" y="2029967"/>
            <a:ext cx="9966960" cy="548640"/>
          </a:xfrm>
          <a:prstGeom prst="rect">
            <a:avLst/>
          </a:prstGeom>
          <a:noFill/>
        </p:spPr>
        <p:txBody>
          <a:bodyPr wrap="square" lIns="0" tIns="0" rIns="0" bIns="0" anchor="t">
            <a:noAutofit/>
          </a:bodyPr>
          <a:lstStyle/>
          <a:p>
            <a:pPr algn="l">
              <a:lnSpc>
                <a:spcPct val="105000"/>
              </a:lnSpc>
              <a:spcAft>
                <a:spcPts val="0"/>
              </a:spcAft>
            </a:pPr>
            <a:r>
              <a:rPr sz="2400" b="0" i="0">
                <a:solidFill>
                  <a:srgbClr val="24323E"/>
                </a:solidFill>
                <a:latin typeface="Times New Roman"/>
                <a:ea typeface="Times New Roman"/>
                <a:cs typeface="Times New Roman"/>
              </a:rPr>
              <a:t>Goals written, every role and question has an owner</a:t>
            </a:r>
          </a:p>
        </p:txBody>
      </p:sp>
      <p:sp>
        <p:nvSpPr>
          <p:cNvPr id="8" name="TextBox 7"/>
          <p:cNvSpPr txBox="1"/>
          <p:nvPr/>
        </p:nvSpPr>
        <p:spPr>
          <a:xfrm>
            <a:off x="603504" y="2706624"/>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03</a:t>
            </a:r>
          </a:p>
        </p:txBody>
      </p:sp>
      <p:sp>
        <p:nvSpPr>
          <p:cNvPr id="9" name="TextBox 8"/>
          <p:cNvSpPr txBox="1"/>
          <p:nvPr/>
        </p:nvSpPr>
        <p:spPr>
          <a:xfrm>
            <a:off x="1481328" y="2743200"/>
            <a:ext cx="9966960" cy="548640"/>
          </a:xfrm>
          <a:prstGeom prst="rect">
            <a:avLst/>
          </a:prstGeom>
          <a:noFill/>
        </p:spPr>
        <p:txBody>
          <a:bodyPr wrap="square" lIns="0" tIns="0" rIns="0" bIns="0" anchor="t">
            <a:noAutofit/>
          </a:bodyPr>
          <a:lstStyle/>
          <a:p>
            <a:pPr algn="l">
              <a:lnSpc>
                <a:spcPct val="105000"/>
              </a:lnSpc>
              <a:spcAft>
                <a:spcPts val="0"/>
              </a:spcAft>
            </a:pPr>
            <a:r>
              <a:rPr sz="2400" b="0" i="0">
                <a:solidFill>
                  <a:srgbClr val="24323E"/>
                </a:solidFill>
                <a:latin typeface="Times New Roman"/>
                <a:ea typeface="Times New Roman"/>
                <a:cs typeface="Times New Roman"/>
              </a:rPr>
              <a:t>One shared repo, and everyone has push access</a:t>
            </a:r>
          </a:p>
        </p:txBody>
      </p:sp>
      <p:sp>
        <p:nvSpPr>
          <p:cNvPr id="10" name="TextBox 9"/>
          <p:cNvSpPr txBox="1"/>
          <p:nvPr/>
        </p:nvSpPr>
        <p:spPr>
          <a:xfrm>
            <a:off x="603504" y="3419856"/>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04</a:t>
            </a:r>
          </a:p>
        </p:txBody>
      </p:sp>
      <p:sp>
        <p:nvSpPr>
          <p:cNvPr id="11" name="TextBox 10"/>
          <p:cNvSpPr txBox="1"/>
          <p:nvPr/>
        </p:nvSpPr>
        <p:spPr>
          <a:xfrm>
            <a:off x="1481328" y="3456432"/>
            <a:ext cx="9966960" cy="548640"/>
          </a:xfrm>
          <a:prstGeom prst="rect">
            <a:avLst/>
          </a:prstGeom>
          <a:noFill/>
        </p:spPr>
        <p:txBody>
          <a:bodyPr wrap="square" lIns="0" tIns="0" rIns="0" bIns="0" anchor="t">
            <a:noAutofit/>
          </a:bodyPr>
          <a:lstStyle/>
          <a:p>
            <a:pPr algn="l">
              <a:lnSpc>
                <a:spcPct val="105000"/>
              </a:lnSpc>
              <a:spcAft>
                <a:spcPts val="0"/>
              </a:spcAft>
            </a:pPr>
            <a:r>
              <a:rPr sz="2400" b="0" i="0">
                <a:solidFill>
                  <a:srgbClr val="24323E"/>
                </a:solidFill>
                <a:latin typeface="Times New Roman"/>
                <a:ea typeface="Times New Roman"/>
                <a:cs typeface="Times New Roman"/>
              </a:rPr>
              <a:t>Data profile run on the real file, and your five worst problems listed</a:t>
            </a:r>
          </a:p>
        </p:txBody>
      </p:sp>
      <p:sp>
        <p:nvSpPr>
          <p:cNvPr id="12" name="TextBox 11"/>
          <p:cNvSpPr txBox="1"/>
          <p:nvPr/>
        </p:nvSpPr>
        <p:spPr>
          <a:xfrm>
            <a:off x="603504" y="4133087"/>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05</a:t>
            </a:r>
          </a:p>
        </p:txBody>
      </p:sp>
      <p:sp>
        <p:nvSpPr>
          <p:cNvPr id="13" name="TextBox 12"/>
          <p:cNvSpPr txBox="1"/>
          <p:nvPr/>
        </p:nvSpPr>
        <p:spPr>
          <a:xfrm>
            <a:off x="1481328" y="4169663"/>
            <a:ext cx="9966960" cy="548640"/>
          </a:xfrm>
          <a:prstGeom prst="rect">
            <a:avLst/>
          </a:prstGeom>
          <a:noFill/>
        </p:spPr>
        <p:txBody>
          <a:bodyPr wrap="square" lIns="0" tIns="0" rIns="0" bIns="0" anchor="t">
            <a:noAutofit/>
          </a:bodyPr>
          <a:lstStyle/>
          <a:p>
            <a:pPr algn="l">
              <a:lnSpc>
                <a:spcPct val="105000"/>
              </a:lnSpc>
              <a:spcAft>
                <a:spcPts val="0"/>
              </a:spcAft>
            </a:pPr>
            <a:r>
              <a:rPr sz="2400" b="0" i="0">
                <a:solidFill>
                  <a:srgbClr val="24323E"/>
                </a:solidFill>
                <a:latin typeface="Times New Roman"/>
                <a:ea typeface="Times New Roman"/>
                <a:cs typeface="Times New Roman"/>
              </a:rPr>
              <a:t>A recurring meeting time on everyone's calendar</a:t>
            </a:r>
          </a:p>
        </p:txBody>
      </p:sp>
      <p:sp>
        <p:nvSpPr>
          <p:cNvPr id="14" name="TextBox 13"/>
          <p:cNvSpPr txBox="1"/>
          <p:nvPr/>
        </p:nvSpPr>
        <p:spPr>
          <a:xfrm>
            <a:off x="603504" y="4846320"/>
            <a:ext cx="731520" cy="557784"/>
          </a:xfrm>
          <a:prstGeom prst="rect">
            <a:avLst/>
          </a:prstGeom>
          <a:noFill/>
        </p:spPr>
        <p:txBody>
          <a:bodyPr wrap="square" lIns="0" tIns="0" rIns="0" bIns="0" anchor="t">
            <a:noAutofit/>
          </a:bodyPr>
          <a:lstStyle/>
          <a:p>
            <a:pPr algn="l">
              <a:lnSpc>
                <a:spcPct val="105000"/>
              </a:lnSpc>
              <a:spcAft>
                <a:spcPts val="0"/>
              </a:spcAft>
            </a:pPr>
            <a:r>
              <a:rPr sz="3150" b="0" i="0">
                <a:solidFill>
                  <a:srgbClr val="F67132"/>
                </a:solidFill>
                <a:latin typeface="Times New Roman"/>
                <a:ea typeface="Times New Roman"/>
                <a:cs typeface="Times New Roman"/>
              </a:rPr>
              <a:t>06</a:t>
            </a:r>
          </a:p>
        </p:txBody>
      </p:sp>
      <p:sp>
        <p:nvSpPr>
          <p:cNvPr id="15" name="TextBox 14"/>
          <p:cNvSpPr txBox="1"/>
          <p:nvPr/>
        </p:nvSpPr>
        <p:spPr>
          <a:xfrm>
            <a:off x="1481328" y="4882896"/>
            <a:ext cx="9966960" cy="548640"/>
          </a:xfrm>
          <a:prstGeom prst="rect">
            <a:avLst/>
          </a:prstGeom>
          <a:noFill/>
        </p:spPr>
        <p:txBody>
          <a:bodyPr wrap="square" lIns="0" tIns="0" rIns="0" bIns="0" anchor="t">
            <a:noAutofit/>
          </a:bodyPr>
          <a:lstStyle/>
          <a:p>
            <a:pPr algn="l">
              <a:lnSpc>
                <a:spcPct val="105000"/>
              </a:lnSpc>
              <a:spcAft>
                <a:spcPts val="0"/>
              </a:spcAft>
            </a:pPr>
            <a:r>
              <a:rPr sz="2400" b="0" i="0">
                <a:solidFill>
                  <a:srgbClr val="24323E"/>
                </a:solidFill>
                <a:latin typeface="Times New Roman"/>
                <a:ea typeface="Times New Roman"/>
                <a:cs typeface="Times New Roman"/>
              </a:rPr>
              <a:t>One person named as this week's notebook owner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dirty="0">
                <a:solidFill>
                  <a:srgbClr val="24323E"/>
                </a:solidFill>
                <a:latin typeface="Times New Roman"/>
                <a:ea typeface="Times New Roman"/>
                <a:cs typeface="Times New Roman"/>
              </a:rPr>
              <a:t>Between now and </a:t>
            </a:r>
            <a:r>
              <a:rPr sz="3788" b="0" i="0" dirty="0">
                <a:solidFill>
                  <a:srgbClr val="F67132"/>
                </a:solidFill>
                <a:latin typeface="Times New Roman"/>
                <a:ea typeface="Times New Roman"/>
                <a:cs typeface="Times New Roman"/>
              </a:rPr>
              <a:t>Friday</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23</a:t>
            </a:r>
          </a:p>
        </p:txBody>
      </p:sp>
      <p:sp>
        <p:nvSpPr>
          <p:cNvPr id="4" name="TextBox 3"/>
          <p:cNvSpPr txBox="1"/>
          <p:nvPr/>
        </p:nvSpPr>
        <p:spPr>
          <a:xfrm>
            <a:off x="603504" y="1280160"/>
            <a:ext cx="10881360" cy="457200"/>
          </a:xfrm>
          <a:prstGeom prst="rect">
            <a:avLst/>
          </a:prstGeom>
          <a:noFill/>
        </p:spPr>
        <p:txBody>
          <a:bodyPr wrap="square" lIns="0" tIns="0" rIns="0" bIns="0" anchor="t">
            <a:noAutofit/>
          </a:bodyPr>
          <a:lstStyle/>
          <a:p>
            <a:pPr algn="l">
              <a:lnSpc>
                <a:spcPct val="105000"/>
              </a:lnSpc>
              <a:spcAft>
                <a:spcPts val="0"/>
              </a:spcAft>
            </a:pPr>
            <a:r>
              <a:rPr sz="2600" b="1" i="0">
                <a:solidFill>
                  <a:srgbClr val="24323E"/>
                </a:solidFill>
                <a:latin typeface="Times New Roman"/>
                <a:ea typeface="Times New Roman"/>
                <a:cs typeface="Times New Roman"/>
              </a:rPr>
              <a:t>Friday's Midterm Checkpoint (Lab 09) asks for eight things.</a:t>
            </a:r>
          </a:p>
        </p:txBody>
      </p:sp>
      <p:sp>
        <p:nvSpPr>
          <p:cNvPr id="5" name="TextBox 4"/>
          <p:cNvSpPr txBox="1"/>
          <p:nvPr/>
        </p:nvSpPr>
        <p:spPr>
          <a:xfrm>
            <a:off x="603504" y="2103120"/>
            <a:ext cx="5120640" cy="3200400"/>
          </a:xfrm>
          <a:prstGeom prst="rect">
            <a:avLst/>
          </a:prstGeom>
          <a:noFill/>
        </p:spPr>
        <p:txBody>
          <a:bodyPr wrap="square" lIns="0" tIns="0" rIns="0" bIns="0" anchor="t">
            <a:noAutofit/>
          </a:bodyPr>
          <a:lstStyle/>
          <a:p>
            <a:pPr algn="l">
              <a:lnSpc>
                <a:spcPct val="105000"/>
              </a:lnSpc>
              <a:spcAft>
                <a:spcPts val="1400"/>
              </a:spcAft>
            </a:pPr>
            <a:r>
              <a:rPr sz="2200" b="1" i="0">
                <a:solidFill>
                  <a:srgbClr val="F67132"/>
                </a:solidFill>
                <a:latin typeface="Times New Roman"/>
                <a:ea typeface="Times New Roman"/>
                <a:cs typeface="Times New Roman"/>
              </a:rPr>
              <a:t>1   </a:t>
            </a:r>
            <a:r>
              <a:rPr sz="2200" b="0" i="0">
                <a:solidFill>
                  <a:srgbClr val="24323E"/>
                </a:solidFill>
                <a:latin typeface="Times New Roman"/>
                <a:ea typeface="Times New Roman"/>
                <a:cs typeface="Times New Roman"/>
              </a:rPr>
              <a:t>Cleaning pipeline as functions, with row counts before and after</a:t>
            </a:r>
          </a:p>
          <a:p>
            <a:pPr algn="l">
              <a:lnSpc>
                <a:spcPct val="105000"/>
              </a:lnSpc>
              <a:spcAft>
                <a:spcPts val="1400"/>
              </a:spcAft>
            </a:pPr>
            <a:r>
              <a:rPr sz="2200" b="1" i="0">
                <a:solidFill>
                  <a:srgbClr val="F67132"/>
                </a:solidFill>
                <a:latin typeface="Times New Roman"/>
                <a:ea typeface="Times New Roman"/>
                <a:cs typeface="Times New Roman"/>
              </a:rPr>
              <a:t>2   </a:t>
            </a:r>
            <a:r>
              <a:rPr sz="2200" b="0" i="0">
                <a:solidFill>
                  <a:srgbClr val="24323E"/>
                </a:solidFill>
                <a:latin typeface="Times New Roman"/>
                <a:ea typeface="Times New Roman"/>
                <a:cs typeface="Times New Roman"/>
              </a:rPr>
              <a:t>Decision log</a:t>
            </a:r>
          </a:p>
          <a:p>
            <a:pPr algn="l">
              <a:lnSpc>
                <a:spcPct val="105000"/>
              </a:lnSpc>
              <a:spcAft>
                <a:spcPts val="1400"/>
              </a:spcAft>
            </a:pPr>
            <a:r>
              <a:rPr sz="2200" b="1" i="0">
                <a:solidFill>
                  <a:srgbClr val="F67132"/>
                </a:solidFill>
                <a:latin typeface="Times New Roman"/>
                <a:ea typeface="Times New Roman"/>
                <a:cs typeface="Times New Roman"/>
              </a:rPr>
              <a:t>3   </a:t>
            </a:r>
            <a:r>
              <a:rPr sz="2200" b="0" i="0">
                <a:solidFill>
                  <a:srgbClr val="24323E"/>
                </a:solidFill>
                <a:latin typeface="Times New Roman"/>
                <a:ea typeface="Times New Roman"/>
                <a:cs typeface="Times New Roman"/>
              </a:rPr>
              <a:t>SKU consolidation progress</a:t>
            </a:r>
          </a:p>
          <a:p>
            <a:pPr algn="l">
              <a:lnSpc>
                <a:spcPct val="105000"/>
              </a:lnSpc>
              <a:spcAft>
                <a:spcPts val="1400"/>
              </a:spcAft>
            </a:pPr>
            <a:r>
              <a:rPr sz="2200" b="1" i="0">
                <a:solidFill>
                  <a:srgbClr val="F67132"/>
                </a:solidFill>
                <a:latin typeface="Times New Roman"/>
                <a:ea typeface="Times New Roman"/>
                <a:cs typeface="Times New Roman"/>
              </a:rPr>
              <a:t>4   </a:t>
            </a:r>
            <a:r>
              <a:rPr sz="2200" b="0" i="0">
                <a:solidFill>
                  <a:srgbClr val="24323E"/>
                </a:solidFill>
                <a:latin typeface="Times New Roman"/>
                <a:ea typeface="Times New Roman"/>
                <a:cs typeface="Times New Roman"/>
              </a:rPr>
              <a:t>One working weather API call, with retries and a source column</a:t>
            </a:r>
          </a:p>
        </p:txBody>
      </p:sp>
      <p:sp>
        <p:nvSpPr>
          <p:cNvPr id="6" name="TextBox 5"/>
          <p:cNvSpPr txBox="1"/>
          <p:nvPr/>
        </p:nvSpPr>
        <p:spPr>
          <a:xfrm>
            <a:off x="6382512" y="2103120"/>
            <a:ext cx="5120640" cy="3200400"/>
          </a:xfrm>
          <a:prstGeom prst="rect">
            <a:avLst/>
          </a:prstGeom>
          <a:noFill/>
        </p:spPr>
        <p:txBody>
          <a:bodyPr wrap="square" lIns="0" tIns="0" rIns="0" bIns="0" anchor="t">
            <a:noAutofit/>
          </a:bodyPr>
          <a:lstStyle/>
          <a:p>
            <a:pPr algn="l">
              <a:lnSpc>
                <a:spcPct val="105000"/>
              </a:lnSpc>
              <a:spcAft>
                <a:spcPts val="1400"/>
              </a:spcAft>
            </a:pPr>
            <a:r>
              <a:rPr sz="2200" b="1" i="0">
                <a:solidFill>
                  <a:srgbClr val="F67132"/>
                </a:solidFill>
                <a:latin typeface="Times New Roman"/>
                <a:ea typeface="Times New Roman"/>
                <a:cs typeface="Times New Roman"/>
              </a:rPr>
              <a:t>5   </a:t>
            </a:r>
            <a:r>
              <a:rPr sz="2200" b="0" i="0">
                <a:solidFill>
                  <a:srgbClr val="24323E"/>
                </a:solidFill>
                <a:latin typeface="Times New Roman"/>
                <a:ea typeface="Times New Roman"/>
                <a:cs typeface="Times New Roman"/>
              </a:rPr>
              <a:t>One chart of daily order volume</a:t>
            </a:r>
          </a:p>
          <a:p>
            <a:pPr algn="l">
              <a:lnSpc>
                <a:spcPct val="105000"/>
              </a:lnSpc>
              <a:spcAft>
                <a:spcPts val="1400"/>
              </a:spcAft>
            </a:pPr>
            <a:r>
              <a:rPr sz="2200" b="1" i="0">
                <a:solidFill>
                  <a:srgbClr val="F67132"/>
                </a:solidFill>
                <a:latin typeface="Times New Roman"/>
                <a:ea typeface="Times New Roman"/>
                <a:cs typeface="Times New Roman"/>
              </a:rPr>
              <a:t>6   </a:t>
            </a:r>
            <a:r>
              <a:rPr sz="2200" b="0" i="0">
                <a:solidFill>
                  <a:srgbClr val="24323E"/>
                </a:solidFill>
                <a:latin typeface="Times New Roman"/>
                <a:ea typeface="Times New Roman"/>
                <a:cs typeface="Times New Roman"/>
              </a:rPr>
              <a:t>A self-check</a:t>
            </a:r>
          </a:p>
          <a:p>
            <a:pPr algn="l">
              <a:lnSpc>
                <a:spcPct val="105000"/>
              </a:lnSpc>
              <a:spcAft>
                <a:spcPts val="1400"/>
              </a:spcAft>
            </a:pPr>
            <a:r>
              <a:rPr sz="2200" b="1" i="0">
                <a:solidFill>
                  <a:srgbClr val="F67132"/>
                </a:solidFill>
                <a:latin typeface="Times New Roman"/>
                <a:ea typeface="Times New Roman"/>
                <a:cs typeface="Times New Roman"/>
              </a:rPr>
              <a:t>7   </a:t>
            </a:r>
            <a:r>
              <a:rPr sz="2200" b="0" i="0">
                <a:solidFill>
                  <a:srgbClr val="24323E"/>
                </a:solidFill>
                <a:latin typeface="Times New Roman"/>
                <a:ea typeface="Times New Roman"/>
                <a:cs typeface="Times New Roman"/>
              </a:rPr>
              <a:t>Biggest risk, and a plan with an owner and a date</a:t>
            </a:r>
          </a:p>
          <a:p>
            <a:pPr algn="l">
              <a:lnSpc>
                <a:spcPct val="105000"/>
              </a:lnSpc>
              <a:spcAft>
                <a:spcPts val="1400"/>
              </a:spcAft>
            </a:pPr>
            <a:r>
              <a:rPr sz="2200" b="1" i="0">
                <a:solidFill>
                  <a:srgbClr val="F67132"/>
                </a:solidFill>
                <a:latin typeface="Times New Roman"/>
                <a:ea typeface="Times New Roman"/>
                <a:cs typeface="Times New Roman"/>
              </a:rPr>
              <a:t>8   </a:t>
            </a:r>
            <a:r>
              <a:rPr sz="2200" b="0" i="0">
                <a:solidFill>
                  <a:srgbClr val="24323E"/>
                </a:solidFill>
                <a:latin typeface="Times New Roman"/>
                <a:ea typeface="Times New Roman"/>
                <a:cs typeface="Times New Roman"/>
              </a:rPr>
              <a:t>Where each of the five questions stands</a:t>
            </a:r>
          </a:p>
        </p:txBody>
      </p:sp>
      <p:sp>
        <p:nvSpPr>
          <p:cNvPr id="7" name="TextBox 6"/>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Wednesday's studio covers the weather API call and the join. Use it for number 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323850"/>
            <a:ext cx="10401300" cy="638175"/>
          </a:xfrm>
        </p:spPr>
        <p:txBody>
          <a:bodyPr wrap="none" lIns="0" tIns="0" rIns="0" bIns="0">
            <a:noAutofit/>
          </a:bodyPr>
          <a:lstStyle/>
          <a:p>
            <a:pPr algn="l"/>
            <a:r>
              <a:rPr sz="3788" b="0" i="0">
                <a:solidFill>
                  <a:srgbClr val="24323E"/>
                </a:solidFill>
                <a:latin typeface="Times New Roman"/>
                <a:ea typeface="Times New Roman"/>
                <a:cs typeface="Times New Roman"/>
              </a:rPr>
              <a:t>This week's </a:t>
            </a:r>
            <a:r>
              <a:rPr sz="3788" b="0" i="0">
                <a:solidFill>
                  <a:srgbClr val="F67132"/>
                </a:solidFill>
                <a:latin typeface="Times New Roman"/>
                <a:ea typeface="Times New Roman"/>
                <a:cs typeface="Times New Roman"/>
              </a:rPr>
              <a:t>target</a:t>
            </a:r>
          </a:p>
        </p:txBody>
      </p:sp>
      <p:sp>
        <p:nvSpPr>
          <p:cNvPr id="3" name="TextBox 2"/>
          <p:cNvSpPr txBox="1"/>
          <p:nvPr/>
        </p:nvSpPr>
        <p:spPr>
          <a:xfrm>
            <a:off x="5751576" y="6483096"/>
            <a:ext cx="667512" cy="219456"/>
          </a:xfrm>
          <a:prstGeom prst="rect">
            <a:avLst/>
          </a:prstGeom>
          <a:noFill/>
        </p:spPr>
        <p:txBody>
          <a:bodyPr wrap="square" lIns="0" tIns="0" rIns="0" bIns="0" anchor="t">
            <a:noAutofit/>
          </a:bodyPr>
          <a:lstStyle/>
          <a:p>
            <a:pPr algn="ctr">
              <a:lnSpc>
                <a:spcPct val="105000"/>
              </a:lnSpc>
              <a:spcAft>
                <a:spcPts val="0"/>
              </a:spcAft>
            </a:pPr>
            <a:r>
              <a:rPr sz="1300" b="0" i="0">
                <a:solidFill>
                  <a:srgbClr val="FFFFFF"/>
                </a:solidFill>
                <a:latin typeface="Times New Roman"/>
                <a:ea typeface="Times New Roman"/>
                <a:cs typeface="Times New Roman"/>
              </a:rPr>
              <a:t>24</a:t>
            </a:r>
          </a:p>
        </p:txBody>
      </p:sp>
      <p:sp>
        <p:nvSpPr>
          <p:cNvPr id="4" name="TextBox 3"/>
          <p:cNvSpPr txBox="1"/>
          <p:nvPr/>
        </p:nvSpPr>
        <p:spPr>
          <a:xfrm>
            <a:off x="603504" y="1307592"/>
            <a:ext cx="10671048" cy="1097280"/>
          </a:xfrm>
          <a:prstGeom prst="rect">
            <a:avLst/>
          </a:prstGeom>
          <a:noFill/>
        </p:spPr>
        <p:txBody>
          <a:bodyPr wrap="square" lIns="0" tIns="0" rIns="0" bIns="0" anchor="t">
            <a:noAutofit/>
          </a:bodyPr>
          <a:lstStyle/>
          <a:p>
            <a:pPr algn="l">
              <a:lnSpc>
                <a:spcPct val="105000"/>
              </a:lnSpc>
              <a:spcAft>
                <a:spcPts val="0"/>
              </a:spcAft>
            </a:pPr>
            <a:r>
              <a:rPr sz="3300" b="1" i="0">
                <a:solidFill>
                  <a:srgbClr val="24323E"/>
                </a:solidFill>
                <a:latin typeface="Times New Roman"/>
                <a:ea typeface="Times New Roman"/>
                <a:cs typeface="Times New Roman"/>
              </a:rPr>
              <a:t>Cleaning pipeline started and one</a:t>
            </a:r>
          </a:p>
          <a:p>
            <a:pPr algn="l">
              <a:lnSpc>
                <a:spcPct val="105000"/>
              </a:lnSpc>
              <a:spcAft>
                <a:spcPts val="0"/>
              </a:spcAft>
            </a:pPr>
            <a:r>
              <a:rPr sz="3300" b="1" i="0">
                <a:solidFill>
                  <a:srgbClr val="24323E"/>
                </a:solidFill>
                <a:latin typeface="Times New Roman"/>
                <a:ea typeface="Times New Roman"/>
                <a:cs typeface="Times New Roman"/>
              </a:rPr>
              <a:t>successful weather API call.</a:t>
            </a:r>
          </a:p>
        </p:txBody>
      </p:sp>
      <p:sp>
        <p:nvSpPr>
          <p:cNvPr id="5" name="TextBox 4"/>
          <p:cNvSpPr txBox="1"/>
          <p:nvPr/>
        </p:nvSpPr>
        <p:spPr>
          <a:xfrm>
            <a:off x="603504" y="2916936"/>
            <a:ext cx="4809744"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This week</a:t>
            </a:r>
          </a:p>
        </p:txBody>
      </p:sp>
      <p:sp>
        <p:nvSpPr>
          <p:cNvPr id="6" name="TextBox 5"/>
          <p:cNvSpPr txBox="1"/>
          <p:nvPr/>
        </p:nvSpPr>
        <p:spPr>
          <a:xfrm>
            <a:off x="603504" y="3364992"/>
            <a:ext cx="4809744" cy="1737360"/>
          </a:xfrm>
          <a:prstGeom prst="rect">
            <a:avLst/>
          </a:prstGeom>
          <a:noFill/>
        </p:spPr>
        <p:txBody>
          <a:bodyPr wrap="square" lIns="0" tIns="0" rIns="0" bIns="0" anchor="t">
            <a:noAutofit/>
          </a:bodyPr>
          <a:lstStyle/>
          <a:p>
            <a:pPr algn="l">
              <a:lnSpc>
                <a:spcPct val="105000"/>
              </a:lnSpc>
              <a:spcAft>
                <a:spcPts val="0"/>
              </a:spcAft>
            </a:pPr>
            <a:r>
              <a:rPr sz="2200" b="0" i="0">
                <a:solidFill>
                  <a:srgbClr val="24323E"/>
                </a:solidFill>
                <a:latin typeface="Times New Roman"/>
                <a:ea typeface="Times New Roman"/>
                <a:cs typeface="Times New Roman"/>
              </a:rPr>
              <a:t>Get the data clean enough to trust: dates, prices, quantities, store ids. Get one weather call working.</a:t>
            </a:r>
          </a:p>
        </p:txBody>
      </p:sp>
      <p:sp>
        <p:nvSpPr>
          <p:cNvPr id="7" name="TextBox 6"/>
          <p:cNvSpPr txBox="1"/>
          <p:nvPr/>
        </p:nvSpPr>
        <p:spPr>
          <a:xfrm>
            <a:off x="6382512" y="2916936"/>
            <a:ext cx="4809744" cy="393192"/>
          </a:xfrm>
          <a:prstGeom prst="rect">
            <a:avLst/>
          </a:prstGeom>
          <a:noFill/>
        </p:spPr>
        <p:txBody>
          <a:bodyPr wrap="square" lIns="0" tIns="0" rIns="0" bIns="0" anchor="t">
            <a:noAutofit/>
          </a:bodyPr>
          <a:lstStyle/>
          <a:p>
            <a:pPr algn="l">
              <a:lnSpc>
                <a:spcPct val="105000"/>
              </a:lnSpc>
              <a:spcAft>
                <a:spcPts val="0"/>
              </a:spcAft>
            </a:pPr>
            <a:r>
              <a:rPr sz="2400" b="1" i="0">
                <a:solidFill>
                  <a:srgbClr val="F67132"/>
                </a:solidFill>
                <a:latin typeface="Times New Roman"/>
                <a:ea typeface="Times New Roman"/>
                <a:cs typeface="Times New Roman"/>
              </a:rPr>
              <a:t>Not yet</a:t>
            </a:r>
          </a:p>
        </p:txBody>
      </p:sp>
      <p:sp>
        <p:nvSpPr>
          <p:cNvPr id="8" name="TextBox 7"/>
          <p:cNvSpPr txBox="1"/>
          <p:nvPr/>
        </p:nvSpPr>
        <p:spPr>
          <a:xfrm>
            <a:off x="6382512" y="3364992"/>
            <a:ext cx="4809744" cy="1737360"/>
          </a:xfrm>
          <a:prstGeom prst="rect">
            <a:avLst/>
          </a:prstGeom>
          <a:noFill/>
        </p:spPr>
        <p:txBody>
          <a:bodyPr wrap="square" lIns="0" tIns="0" rIns="0" bIns="0" anchor="t">
            <a:noAutofit/>
          </a:bodyPr>
          <a:lstStyle/>
          <a:p>
            <a:pPr algn="l">
              <a:lnSpc>
                <a:spcPct val="105000"/>
              </a:lnSpc>
              <a:spcAft>
                <a:spcPts val="0"/>
              </a:spcAft>
            </a:pPr>
            <a:r>
              <a:rPr sz="2100" b="0" i="0">
                <a:solidFill>
                  <a:srgbClr val="24323E"/>
                </a:solidFill>
                <a:latin typeface="Times New Roman"/>
                <a:ea typeface="Times New Roman"/>
                <a:cs typeface="Times New Roman"/>
              </a:rPr>
              <a:t>Answering the five questions. You can't do it on dirty data, and trying is the most common way teams lose week one.</a:t>
            </a:r>
          </a:p>
        </p:txBody>
      </p:sp>
      <p:sp>
        <p:nvSpPr>
          <p:cNvPr id="9" name="TextBox 8"/>
          <p:cNvSpPr txBox="1"/>
          <p:nvPr/>
        </p:nvSpPr>
        <p:spPr>
          <a:xfrm>
            <a:off x="603504" y="5486400"/>
            <a:ext cx="10908792" cy="512064"/>
          </a:xfrm>
          <a:prstGeom prst="rect">
            <a:avLst/>
          </a:prstGeom>
          <a:noFill/>
        </p:spPr>
        <p:txBody>
          <a:bodyPr wrap="square" lIns="0" tIns="0" rIns="0" bIns="0" anchor="t">
            <a:noAutofit/>
          </a:bodyPr>
          <a:lstStyle/>
          <a:p>
            <a:pPr algn="l">
              <a:lnSpc>
                <a:spcPct val="105000"/>
              </a:lnSpc>
              <a:spcAft>
                <a:spcPts val="0"/>
              </a:spcAft>
            </a:pPr>
            <a:r>
              <a:rPr sz="2000" b="0" i="0">
                <a:solidFill>
                  <a:srgbClr val="24323E"/>
                </a:solidFill>
                <a:latin typeface="Times New Roman"/>
                <a:ea typeface="Times New Roman"/>
                <a:cs typeface="Times New Roman"/>
              </a:rPr>
              <a:t>Questions before you start?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3089</Words>
  <Application>Microsoft Macintosh PowerPoint</Application>
  <DocSecurity>0</DocSecurity>
  <PresentationFormat>Widescreen</PresentationFormat>
  <Paragraphs>350</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Courier New</vt:lpstr>
      <vt:lpstr>Times New Roman</vt:lpstr>
      <vt:lpstr>Wingdings</vt:lpstr>
      <vt:lpstr>Office Theme</vt:lpstr>
      <vt:lpstr>Midterm Kickoff</vt:lpstr>
      <vt:lpstr>What we're doing today</vt:lpstr>
      <vt:lpstr>You are Walmart's data science consultants</vt:lpstr>
      <vt:lpstr>What you hand in</vt:lpstr>
      <vt:lpstr>How it's graded</vt:lpstr>
      <vt:lpstr>The data you're getting</vt:lpstr>
      <vt:lpstr>Every file has problems</vt:lpstr>
      <vt:lpstr>The five questions</vt:lpstr>
      <vt:lpstr>Three weeks at a glance</vt:lpstr>
      <vt:lpstr>In class and outside class</vt:lpstr>
      <vt:lpstr>What usually goes wrong</vt:lpstr>
      <vt:lpstr>Forming teams</vt:lpstr>
      <vt:lpstr>Profile the data together</vt:lpstr>
      <vt:lpstr>Read the profile out loud</vt:lpstr>
      <vt:lpstr>The team charter</vt:lpstr>
      <vt:lpstr>Charter, part 1: goals</vt:lpstr>
      <vt:lpstr>Charter, part 2: who does what</vt:lpstr>
      <vt:lpstr>Fewer than four people</vt:lpstr>
      <vt:lpstr>Charter, part 3: question owners</vt:lpstr>
      <vt:lpstr>Charter, part 4: how we work</vt:lpstr>
      <vt:lpstr>Set up the repository</vt:lpstr>
      <vt:lpstr>Before you Wednesday Class</vt:lpstr>
      <vt:lpstr>Between now and Friday</vt:lpstr>
      <vt:lpstr>This week's target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Jason Williamson</cp:lastModifiedBy>
  <cp:revision>5</cp:revision>
  <dcterms:created xsi:type="dcterms:W3CDTF">2026-09-28T02:32:09Z</dcterms:created>
  <dcterms:modified xsi:type="dcterms:W3CDTF">2026-10-19T02:36:48Z</dcterms:modified>
</cp:coreProperties>
</file>